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Revenue, USD millions, Q1 2026 and Q2 2026</a:t>
            </a:r>
          </a:p>
        </c:rich>
      </c:tx>
      <c:layout/>
      <c:overlay val="0"/>
    </c:title>
    <c:autoTitleDeleted val="0"/>
    <c:plotArea>
      <c:barChart>
        <c:barDir val="col"/>
        <c:grouping val="clustered"/>
        <c:ser>
          <c:idx val="0"/>
          <c:order val="0"/>
          <c:tx>
            <c:strRef>
              <c:f>Sheet1!$B$1</c:f>
              <c:strCache>
                <c:ptCount val="1"/>
                <c:pt idx="0">
                  <c:v>Revenue (USD M)</c:v>
                </c:pt>
              </c:strCache>
            </c:strRef>
          </c:tx>
          <c:dPt>
            <c:idx val="0"/>
            <c:spPr>
              <a:solidFill>
                <a:srgbClr val="667085"/>
              </a:solidFill>
            </c:spPr>
          </c:dPt>
          <c:dPt>
            <c:idx val="1"/>
            <c:spPr>
              <a:solidFill>
                <a:srgbClr val="FFFFFF"/>
              </a:solidFill>
              <a:ln w="25400">
                <a:solidFill>
                  <a:srgbClr val="112239"/>
                </a:solidFill>
              </a:ln>
            </c:spPr>
          </c:dPt>
          <c:dPt>
            <c:idx val="2"/>
            <c:spPr>
              <a:solidFill>
                <a:srgbClr val="112239"/>
              </a:solidFill>
            </c:spPr>
          </c:dPt>
          <c:cat>
            <c:strRef>
              <c:f>Sheet1!$A$2:$A$4</c:f>
              <c:strCache>
                <c:ptCount val="3"/>
                <c:pt idx="0">
                  <c:v>Q1 2026 (prior quarter)</c:v>
                </c:pt>
                <c:pt idx="1">
                  <c:v>Q2 2026 plan</c:v>
                </c:pt>
                <c:pt idx="2">
                  <c:v>Q2 2026 actual</c:v>
                </c:pt>
              </c:strCache>
            </c:strRef>
          </c:cat>
          <c:val>
            <c:numRef>
              <c:f>Sheet1!$B$2:$B$4</c:f>
              <c:numCache>
                <c:formatCode>General</c:formatCode>
                <c:ptCount val="3"/>
                <c:pt idx="0">
                  <c:v>4.2</c:v>
                </c:pt>
                <c:pt idx="1">
                  <c:v>5.0</c:v>
                </c:pt>
                <c:pt idx="2">
                  <c:v>4.8</c:v>
                </c:pt>
              </c:numCache>
            </c:numRef>
          </c:val>
        </c:ser>
        <c:dLbls>
          <c:numFmt formatCode="&quot;$&quot;0.0&quot;M&quot;" sourceLinked="0"/>
          <c:txPr>
            <a:bodyPr/>
            <a:lstStyle/>
            <a:p>
              <a:pPr>
                <a:defRPr sz="1600" b="1">
                  <a:solidFill>
                    <a:srgbClr val="112239"/>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majorUnit val="1.0"/>
      </c:valAx>
    </c:plotArea>
    <c:dispBlanksAs val="gap"/>
  </c:chart>
  <c:txPr>
    <a:bodyPr/>
    <a:lstStyle/>
    <a:p>
      <a:pPr>
        <a:defRPr sz="1300">
          <a:solidFill>
            <a:srgbClr val="47546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Implied gross profit, USD millions, Q2 2026</a:t>
            </a:r>
          </a:p>
        </c:rich>
      </c:tx>
      <c:layout/>
      <c:overlay val="0"/>
    </c:title>
    <c:autoTitleDeleted val="0"/>
    <c:plotArea>
      <c:layout>
        <c:manualLayout>
          <c:layoutTarget val="inner"/>
          <c:xMode val="edge"/>
          <c:yMode val="edge"/>
          <c:x val="0.02"/>
          <c:y val="0.1"/>
          <c:w val="0.96"/>
          <c:h val="0.7"/>
        </c:manualLayout>
      </c:layout>
      <c:barChart>
        <c:barDir val="col"/>
        <c:grouping val="stacked"/>
        <c:ser>
          <c:idx val="0"/>
          <c:order val="0"/>
          <c:tx>
            <c:strRef>
              <c:f>Sheet1!$B$1</c:f>
              <c:strCache>
                <c:ptCount val="1"/>
                <c:pt idx="0">
                  <c:v>Bridge base (hidden)</c:v>
                </c:pt>
              </c:strCache>
            </c:strRef>
          </c:tx>
          <c:spPr>
            <a:noFill/>
            <a:ln>
              <a:noFill/>
            </a:ln>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Sheet1!$B$2:$B$5</c:f>
              <c:numCache>
                <c:formatCode>General</c:formatCode>
                <c:ptCount val="4"/>
                <c:pt idx="1">
                  <c:v>3.504</c:v>
                </c:pt>
                <c:pt idx="2">
                  <c:v>3.504</c:v>
                </c:pt>
              </c:numCache>
            </c:numRef>
          </c:val>
        </c:ser>
        <c:ser>
          <c:idx val="1"/>
          <c:order val="1"/>
          <c:tx>
            <c:strRef>
              <c:f>Sheet1!$C$1</c:f>
              <c:strCache>
                <c:ptCount val="1"/>
                <c:pt idx="0">
                  <c:v>Implied gross profit</c:v>
                </c:pt>
              </c:strCache>
            </c:strRef>
          </c:tx>
          <c:invertIfNegative val="0"/>
          <c:dPt>
            <c:idx val="0"/>
            <c:spPr>
              <a:solidFill>
                <a:srgbClr val="FFFFFF"/>
              </a:solidFill>
              <a:ln w="25400">
                <a:solidFill>
                  <a:srgbClr val="112239"/>
                </a:solidFill>
              </a:ln>
            </c:spPr>
          </c:dPt>
          <c:dPt>
            <c:idx val="3"/>
            <c:spPr>
              <a:solidFill>
                <a:srgbClr val="112239"/>
              </a:solidFill>
            </c:spPr>
          </c:dPt>
          <c:cat>
            <c:strRef>
              <c:f>Sheet1!$A$2:$A$5</c:f>
              <c:strCache>
                <c:ptCount val="4"/>
                <c:pt idx="0">
                  <c:v>Q2 2026 plan</c:v>
                </c:pt>
                <c:pt idx="1">
                  <c:v>Revenue below plan (at plan margin)</c:v>
                </c:pt>
                <c:pt idx="2">
                  <c:v>Gross margin above plan</c:v>
                </c:pt>
                <c:pt idx="3">
                  <c:v>Q2 2026 actual</c:v>
                </c:pt>
              </c:strCache>
            </c:strRef>
          </c:cat>
          <c:val>
            <c:numRef>
              <c:f>Sheet1!$C$2:$C$5</c:f>
              <c:numCache>
                <c:formatCode>General</c:formatCode>
                <c:ptCount val="4"/>
                <c:pt idx="0">
                  <c:v>3.65</c:v>
                </c:pt>
                <c:pt idx="3">
                  <c:v>3.552</c:v>
                </c:pt>
              </c:numCache>
            </c:numRef>
          </c:val>
        </c:ser>
        <c:ser>
          <c:idx val="2"/>
          <c:order val="2"/>
          <c:tx>
            <c:strRef>
              <c:f>Sheet1!$D$1</c:f>
              <c:strCache>
                <c:ptCount val="1"/>
                <c:pt idx="0">
                  <c:v>Revenue below plan</c:v>
                </c:pt>
              </c:strCache>
            </c:strRef>
          </c:tx>
          <c:spPr>
            <a:solidFill>
              <a:srgbClr val="B4231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Sheet1!$D$2:$D$5</c:f>
              <c:numCache>
                <c:formatCode>General</c:formatCode>
                <c:ptCount val="4"/>
                <c:pt idx="1">
                  <c:v>0.146</c:v>
                </c:pt>
              </c:numCache>
            </c:numRef>
          </c:val>
        </c:ser>
        <c:ser>
          <c:idx val="3"/>
          <c:order val="3"/>
          <c:tx>
            <c:strRef>
              <c:f>Sheet1!$E$1</c:f>
              <c:strCache>
                <c:ptCount val="1"/>
                <c:pt idx="0">
                  <c:v>Gross margin above plan</c:v>
                </c:pt>
              </c:strCache>
            </c:strRef>
          </c:tx>
          <c:spPr>
            <a:solidFill>
              <a:srgbClr val="027A48"/>
            </a:solidFill>
          </c:spPr>
          <c:invertIfNegative val="0"/>
          <c:cat>
            <c:strRef>
              <c:f>Sheet1!$A$2:$A$5</c:f>
              <c:strCache>
                <c:ptCount val="4"/>
                <c:pt idx="0">
                  <c:v>Q2 2026 plan</c:v>
                </c:pt>
                <c:pt idx="1">
                  <c:v>Revenue below plan (at plan margin)</c:v>
                </c:pt>
                <c:pt idx="2">
                  <c:v>Gross margin above plan</c:v>
                </c:pt>
                <c:pt idx="3">
                  <c:v>Q2 2026 actual</c:v>
                </c:pt>
              </c:strCache>
            </c:strRef>
          </c:cat>
          <c:val>
            <c:numRef>
              <c:f>Sheet1!$E$2:$E$5</c:f>
              <c:numCache>
                <c:formatCode>General</c:formatCode>
                <c:ptCount val="4"/>
                <c:pt idx="2">
                  <c:v>0.048</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a:solidFill>
              <a:srgbClr val="475467"/>
            </a:solidFill>
          </a:ln>
        </c:spPr>
        <c:txPr>
          <a:bodyPr/>
          <a:lstStyle/>
          <a:p>
            <a:pPr>
              <a:defRPr sz="1400"/>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majorUnit val="1.0"/>
      </c:valAx>
    </c:plotArea>
    <c:dispBlanksAs val="gap"/>
  </c:chart>
  <c:txPr>
    <a:bodyPr/>
    <a:lstStyle/>
    <a:p>
      <a:pPr>
        <a:defRPr sz="1400">
          <a:solidFill>
            <a:srgbClr val="47546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475467"/>
                </a:solidFill>
                <a:latin typeface="Calibri"/>
              </a:rPr>
              <a:t>Share of the gap to plan closed in Q2 2026, percent</a:t>
            </a:r>
          </a:p>
        </c:rich>
      </c:tx>
      <c:layout/>
      <c:overlay val="0"/>
    </c:title>
    <c:autoTitleDeleted val="0"/>
    <c:plotArea>
      <c:barChart>
        <c:barDir val="bar"/>
        <c:grouping val="clustered"/>
        <c:ser>
          <c:idx val="0"/>
          <c:order val="0"/>
          <c:tx>
            <c:strRef>
              <c:f>Sheet1!$B$1</c:f>
              <c:strCache>
                <c:ptCount val="1"/>
                <c:pt idx="0">
                  <c:v>Gap closed (%)</c:v>
                </c:pt>
              </c:strCache>
            </c:strRef>
          </c:tx>
          <c:dPt>
            <c:idx val="0"/>
            <c:spPr>
              <a:solidFill>
                <a:srgbClr val="027A48"/>
              </a:solidFill>
            </c:spPr>
          </c:dPt>
          <c:dPt>
            <c:idx val="1"/>
            <c:spPr>
              <a:solidFill>
                <a:srgbClr val="8C857A"/>
              </a:solidFill>
            </c:spPr>
          </c:dPt>
          <c:dPt>
            <c:idx val="2"/>
            <c:spPr>
              <a:solidFill>
                <a:srgbClr val="8C857A"/>
              </a:solidFill>
            </c:spPr>
          </c:dPt>
          <c:dPt>
            <c:idx val="3"/>
            <c:spPr>
              <a:solidFill>
                <a:srgbClr val="8C857A"/>
              </a:solidFill>
            </c:spPr>
          </c:dPt>
          <c:dPt>
            <c:idx val="4"/>
            <c:spPr>
              <a:solidFill>
                <a:srgbClr val="8C857A"/>
              </a:solidFill>
            </c:spPr>
          </c:dPt>
          <c:dPt>
            <c:idx val="5"/>
            <c:spPr>
              <a:solidFill>
                <a:srgbClr val="8C857A"/>
              </a:solidFill>
            </c:spPr>
          </c:dPt>
          <c:dPt>
            <c:idx val="6"/>
            <c:spPr>
              <a:solidFill>
                <a:srgbClr val="B42318"/>
              </a:solidFill>
            </c:spPr>
          </c:dPt>
          <c:cat>
            <c:strRef>
              <c:f>Sheet1!$A$2:$A$8</c:f>
              <c:strCache>
                <c:ptCount val="7"/>
                <c:pt idx="0">
                  <c:v>Gross margin</c:v>
                </c:pt>
                <c:pt idx="1">
                  <c:v>Revenue</c:v>
                </c:pt>
                <c:pt idx="2">
                  <c:v>New ARR</c:v>
                </c:pt>
                <c:pt idx="3">
                  <c:v>Enterprise win rate</c:v>
                </c:pt>
                <c:pt idx="4">
                  <c:v>Sales cycle</c:v>
                </c:pt>
                <c:pt idx="5">
                  <c:v>Net revenue retention</c:v>
                </c:pt>
                <c:pt idx="6">
                  <c:v>Pipeline coverage</c:v>
                </c:pt>
              </c:strCache>
            </c:strRef>
          </c:cat>
          <c:val>
            <c:numRef>
              <c:f>Sheet1!$B$2:$B$8</c:f>
              <c:numCache>
                <c:formatCode>General</c:formatCode>
                <c:ptCount val="7"/>
                <c:pt idx="0">
                  <c:v>200.0</c:v>
                </c:pt>
                <c:pt idx="1">
                  <c:v>75.0</c:v>
                </c:pt>
                <c:pt idx="2">
                  <c:v>75.0</c:v>
                </c:pt>
                <c:pt idx="3">
                  <c:v>66.666666666667</c:v>
                </c:pt>
                <c:pt idx="4">
                  <c:v>57.142857142857</c:v>
                </c:pt>
                <c:pt idx="5">
                  <c:v>50.0</c:v>
                </c:pt>
                <c:pt idx="6">
                  <c:v>40.0</c:v>
                </c:pt>
              </c:numCache>
            </c:numRef>
          </c:val>
        </c:ser>
        <c:dLbls>
          <c:numFmt formatCode="0&quot;%&quot;" sourceLinked="0"/>
          <c:txPr>
            <a:bodyPr/>
            <a:lstStyle/>
            <a:p>
              <a:pPr>
                <a:defRPr sz="1400" b="1">
                  <a:solidFill>
                    <a:srgbClr val="112239"/>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0D5DD"/>
            </a:solidFill>
          </a:ln>
        </c:spPr>
        <c:txPr>
          <a:bodyPr/>
          <a:lstStyle/>
          <a:p>
            <a:pPr>
              <a:defRPr sz="1400"/>
            </a:pPr>
          </a:p>
        </c:txPr>
        <c:crossAx val="-2113994440"/>
        <c:crosses val="autoZero"/>
        <c:auto val="1"/>
        <c:lblAlgn val="ctr"/>
        <c:lblOffset val="100"/>
        <c:noMultiLvlLbl val="0"/>
      </c:catAx>
      <c:valAx>
        <c:axId val="-2113994440"/>
        <c:scaling>
          <c:max val="225.0"/>
          <c:min val="0.0"/>
        </c:scaling>
        <c:delete/>
        <c:axPos val="b"/>
        <c:majorTickMark val="out"/>
        <c:minorTickMark val="none"/>
        <c:tickLblPos val="nextTo"/>
        <c:crossAx val="-2068027336"/>
        <c:crosses val="autoZero"/>
        <c:majorUnit val="25.0"/>
      </c:valAx>
    </c:plotArea>
    <c:dispBlanksAs val="gap"/>
  </c:chart>
  <c:txPr>
    <a:bodyPr/>
    <a:lstStyle/>
    <a:p>
      <a:pPr>
        <a:defRPr sz="1300">
          <a:solidFill>
            <a:srgbClr val="47546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reading guide (spec section 3): purpose, decision and status words. No figure on this slide. Evidence: F-20 for the decision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F-01, F-02, F-03, F-05, F-06, F-09, F-20. Register: claims_register_v6.csv.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F-02, F-04, F-05, F-06, F-08, F-12 (derived, L-007); hypotheses F-17 to F-19.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F-01 to F-04, F-13; L-011.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F-06, F-12 (derived), F-14; assumption L-007; step level C-GROSS_PROFIT-AT-PLAN-MARGIN.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F-05 to F-11; values from the source CSV; changes and variances from calculation_checks.md.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F-05 (calculation), F-09, F-15 (interpretation); L-004.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Slides on revenue, gross profit, scorecard and pipeline (F-03, F-05, F-08, F-09, F-12, F-15); recommendation F-20. No new figure.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Recommendations F-20 to F-23; open questions F-24 to F-26.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mode: the narrative, the full caveats and the definitions are on the slide. Evidence: Limitations L-002, L-003, L-004, L-007, L-009, L-010, L-011. Full register: 02_data_validation/discrepancy_register.md.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How to read this leave-behind: one decision, the evidence for it, and its limits</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ubtitle"/>
          <p:cNvSpPr txBox="1"/>
          <p:nvPr/>
        </p:nvSpPr>
        <p:spPr>
          <a:xfrm>
            <a:off x="548640" y="1536192"/>
            <a:ext cx="11064240" cy="365760"/>
          </a:xfrm>
          <a:prstGeom prst="rect">
            <a:avLst/>
          </a:prstGeom>
          <a:noFill/>
        </p:spPr>
        <p:txBody>
          <a:bodyPr wrap="square" anchor="t" lIns="73152" rIns="73152">
            <a:spAutoFit/>
          </a:bodyPr>
          <a:lstStyle/>
          <a:p>
            <a:pPr>
              <a:spcAft>
                <a:spcPts val="400"/>
              </a:spcAft>
            </a:pPr>
            <a:r>
              <a:rPr sz="1400" b="0">
                <a:solidFill>
                  <a:srgbClr val="475467"/>
                </a:solidFill>
              </a:rPr>
              <a:t>Standalone leave-behind of the Q2 2026 business review, written to be read without a presenter</a:t>
            </a:r>
          </a:p>
        </p:txBody>
      </p:sp>
      <p:sp>
        <p:nvSpPr>
          <p:cNvPr id="5" name="Purpose panel">
            <a:extLst>
              <a:ext uri="{C183D7F6-B498-43B3-948B-1728B52AA6E4}">
                <adec:decorative xmlns:adec="http://schemas.microsoft.com/office/drawing/2017/decorative" val="1"/>
              </a:ext>
            </a:extLst>
          </p:cNvPr>
          <p:cNvSpPr/>
          <p:nvPr/>
        </p:nvSpPr>
        <p:spPr>
          <a:xfrm>
            <a:off x="548640" y="2011680"/>
            <a:ext cx="5394960" cy="3566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us words panel">
            <a:extLst>
              <a:ext uri="{C183D7F6-B498-43B3-948B-1728B52AA6E4}">
                <adec:decorative xmlns:adec="http://schemas.microsoft.com/office/drawing/2017/decorative" val="1"/>
              </a:ext>
            </a:extLst>
          </p:cNvPr>
          <p:cNvSpPr/>
          <p:nvPr/>
        </p:nvSpPr>
        <p:spPr>
          <a:xfrm>
            <a:off x="6245352" y="2011680"/>
            <a:ext cx="5394960" cy="3566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rpose and decision"/>
          <p:cNvSpPr txBox="1"/>
          <p:nvPr/>
        </p:nvSpPr>
        <p:spPr>
          <a:xfrm>
            <a:off x="685800" y="2103120"/>
            <a:ext cx="5120640" cy="3383280"/>
          </a:xfrm>
          <a:prstGeom prst="rect">
            <a:avLst/>
          </a:prstGeom>
          <a:noFill/>
        </p:spPr>
        <p:txBody>
          <a:bodyPr wrap="square" anchor="t" lIns="73152" rIns="73152">
            <a:spAutoFit/>
          </a:bodyPr>
          <a:lstStyle/>
          <a:p>
            <a:pPr>
              <a:spcAft>
                <a:spcPts val="400"/>
              </a:spcAft>
            </a:pPr>
            <a:r>
              <a:rPr sz="1200" b="1">
                <a:solidFill>
                  <a:srgbClr val="475467"/>
                </a:solidFill>
              </a:rPr>
              <a:t>PURPOSE</a:t>
            </a:r>
          </a:p>
          <a:p>
            <a:pPr>
              <a:spcAft>
                <a:spcPts val="400"/>
              </a:spcAft>
            </a:pPr>
            <a:r>
              <a:rPr sz="1400" b="0">
                <a:solidFill>
                  <a:srgbClr val="112239"/>
                </a:solidFill>
              </a:rPr>
              <a:t>This review compares Northstar Cloud's Q2 2026 results with the Q1 2026 actuals and the Q2 2026 plan. It asks the executive team for one decision before the Q3 plan is signed off.</a:t>
            </a:r>
          </a:p>
          <a:p>
            <a:pPr>
              <a:spcAft>
                <a:spcPts val="400"/>
              </a:spcAft>
            </a:pPr>
            <a:r>
              <a:rPr sz="1200" b="1">
                <a:solidFill>
                  <a:srgbClr val="475467"/>
                </a:solidFill>
              </a:rPr>
              <a:t>DECISION REQUESTED</a:t>
            </a:r>
          </a:p>
          <a:p>
            <a:pPr>
              <a:spcAft>
                <a:spcPts val="400"/>
              </a:spcAft>
            </a:pPr>
            <a:r>
              <a:rPr sz="1400" b="1">
                <a:solidFill>
                  <a:srgbClr val="112239"/>
                </a:solidFill>
              </a:rPr>
              <a:t>Do not assume Q3 plan recovery until pipeline-stage, retention and scenario evidence is reviewed. Three functions own one evidence request each.</a:t>
            </a:r>
          </a:p>
          <a:p>
            <a:pPr>
              <a:spcAft>
                <a:spcPts val="400"/>
              </a:spcAft>
            </a:pPr>
            <a:r>
              <a:rPr sz="1200" b="1">
                <a:solidFill>
                  <a:srgbClr val="475467"/>
                </a:solidFill>
              </a:rPr>
              <a:t>ORDER OF THE PAGES</a:t>
            </a:r>
          </a:p>
          <a:p>
            <a:pPr>
              <a:spcAft>
                <a:spcPts val="400"/>
              </a:spcAft>
            </a:pPr>
            <a:r>
              <a:rPr sz="1400" b="0">
                <a:solidFill>
                  <a:srgbClr val="112239"/>
                </a:solidFill>
              </a:rPr>
              <a:t>Answer, summary, revenue, gross profit, scorecard, pipeline risk, options, decision, data notes.</a:t>
            </a:r>
          </a:p>
        </p:txBody>
      </p:sp>
      <p:sp>
        <p:nvSpPr>
          <p:cNvPr id="8" name="Status words"/>
          <p:cNvSpPr txBox="1"/>
          <p:nvPr/>
        </p:nvSpPr>
        <p:spPr>
          <a:xfrm>
            <a:off x="6382512" y="2103120"/>
            <a:ext cx="5120640" cy="3383280"/>
          </a:xfrm>
          <a:prstGeom prst="rect">
            <a:avLst/>
          </a:prstGeom>
          <a:noFill/>
        </p:spPr>
        <p:txBody>
          <a:bodyPr wrap="square" anchor="t" lIns="73152" rIns="73152">
            <a:spAutoFit/>
          </a:bodyPr>
          <a:lstStyle/>
          <a:p>
            <a:pPr>
              <a:spcAft>
                <a:spcPts val="400"/>
              </a:spcAft>
            </a:pPr>
            <a:r>
              <a:rPr sz="1200" b="1">
                <a:solidFill>
                  <a:srgbClr val="475467"/>
                </a:solidFill>
              </a:rPr>
              <a:t>HOW TO READ THE STATUS WORDS</a:t>
            </a:r>
          </a:p>
          <a:p>
            <a:pPr>
              <a:spcAft>
                <a:spcPts val="400"/>
              </a:spcAft>
            </a:pPr>
            <a:r>
              <a:rPr sz="1400" b="1">
                <a:solidFill>
                  <a:srgbClr val="112239"/>
                </a:solidFill>
              </a:rPr>
              <a:t>Ahead of plan / Short of plan: </a:t>
            </a:r>
            <a:r>
              <a:rPr sz="1400" b="0">
                <a:solidFill>
                  <a:srgbClr val="112239"/>
                </a:solidFill>
              </a:rPr>
              <a:t>status against the Q2 2026 plan, in words and in colour (green, red).</a:t>
            </a:r>
          </a:p>
          <a:p>
            <a:pPr>
              <a:spcAft>
                <a:spcPts val="400"/>
              </a:spcAft>
            </a:pPr>
            <a:r>
              <a:rPr sz="1400" b="1">
                <a:solidFill>
                  <a:srgbClr val="112239"/>
                </a:solidFill>
              </a:rPr>
              <a:t>Implied: </a:t>
            </a:r>
            <a:r>
              <a:rPr sz="1400" b="0">
                <a:solidFill>
                  <a:srgbClr val="112239"/>
                </a:solidFill>
              </a:rPr>
              <a:t>a derived figure that rests on a stated assumption.</a:t>
            </a:r>
          </a:p>
          <a:p>
            <a:pPr>
              <a:spcAft>
                <a:spcPts val="400"/>
              </a:spcAft>
            </a:pPr>
            <a:r>
              <a:rPr sz="1400" b="1">
                <a:solidFill>
                  <a:srgbClr val="112239"/>
                </a:solidFill>
              </a:rPr>
              <a:t>RECOMMENDATION: </a:t>
            </a:r>
            <a:r>
              <a:rPr sz="1400" b="0">
                <a:solidFill>
                  <a:srgbClr val="112239"/>
                </a:solidFill>
              </a:rPr>
              <a:t>a judgement on the evidence, not a verified finding.</a:t>
            </a:r>
          </a:p>
          <a:p>
            <a:pPr>
              <a:spcAft>
                <a:spcPts val="400"/>
              </a:spcAft>
            </a:pPr>
            <a:r>
              <a:rPr sz="1400" b="1">
                <a:solidFill>
                  <a:srgbClr val="112239"/>
                </a:solidFill>
              </a:rPr>
              <a:t>Unknown: </a:t>
            </a:r>
            <a:r>
              <a:rPr sz="1400" b="0">
                <a:solidFill>
                  <a:srgbClr val="112239"/>
                </a:solidFill>
              </a:rPr>
              <a:t>the source holds no data for it, so no figure is shown.</a:t>
            </a:r>
          </a:p>
          <a:p>
            <a:pPr>
              <a:spcAft>
                <a:spcPts val="400"/>
              </a:spcAft>
            </a:pPr>
            <a:r>
              <a:rPr sz="1400" b="1">
                <a:solidFill>
                  <a:srgbClr val="112239"/>
                </a:solidFill>
              </a:rPr>
              <a:t>Synthetic data: </a:t>
            </a:r>
            <a:r>
              <a:rPr sz="1400" b="0">
                <a:solidFill>
                  <a:srgbClr val="112239"/>
                </a:solidFill>
              </a:rPr>
              <a:t>every figure comes from one synthetic CSV for a fictional company.</a:t>
            </a:r>
          </a:p>
        </p:txBody>
      </p:sp>
      <p:sp>
        <p:nvSpPr>
          <p:cNvPr id="9"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2"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Q2 revenue grew 14.3% but reached 96% of plan; pipeline coverage closed the least of its gap</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Growth was real, but only gross margin reached plan, so a Q3 recovery is not yet shown.</a:t>
            </a:r>
          </a:p>
        </p:txBody>
      </p:sp>
      <p:sp>
        <p:nvSpPr>
          <p:cNvPr id="5" name="Tile 1 panel">
            <a:extLst>
              <a:ext uri="{C183D7F6-B498-43B3-948B-1728B52AA6E4}">
                <adec:decorative xmlns:adec="http://schemas.microsoft.com/office/drawing/2017/decorative" val="1"/>
              </a:ext>
            </a:extLst>
          </p:cNvPr>
          <p:cNvSpPr/>
          <p:nvPr/>
        </p:nvSpPr>
        <p:spPr>
          <a:xfrm>
            <a:off x="548640"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le 1 accent">
            <a:extLst>
              <a:ext uri="{C183D7F6-B498-43B3-948B-1728B52AA6E4}">
                <adec:decorative xmlns:adec="http://schemas.microsoft.com/office/drawing/2017/decorative" val="1"/>
              </a:ext>
            </a:extLst>
          </p:cNvPr>
          <p:cNvSpPr/>
          <p:nvPr/>
        </p:nvSpPr>
        <p:spPr>
          <a:xfrm>
            <a:off x="548640" y="201168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ile 1"/>
          <p:cNvSpPr txBox="1"/>
          <p:nvPr/>
        </p:nvSpPr>
        <p:spPr>
          <a:xfrm>
            <a:off x="731520"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REVENUE, Q2 2026</a:t>
            </a:r>
          </a:p>
          <a:p>
            <a:pPr>
              <a:spcAft>
                <a:spcPts val="400"/>
              </a:spcAft>
            </a:pPr>
            <a:r>
              <a:rPr sz="3600" b="1">
                <a:solidFill>
                  <a:srgbClr val="112239"/>
                </a:solidFill>
              </a:rPr>
              <a:t>$4.8M</a:t>
            </a:r>
          </a:p>
          <a:p>
            <a:pPr>
              <a:spcAft>
                <a:spcPts val="400"/>
              </a:spcAft>
            </a:pPr>
            <a:r>
              <a:rPr sz="1400" b="0">
                <a:solidFill>
                  <a:srgbClr val="112239"/>
                </a:solidFill>
              </a:rPr>
              <a:t>+14.3% vs Q1</a:t>
            </a:r>
          </a:p>
          <a:p>
            <a:pPr>
              <a:spcAft>
                <a:spcPts val="400"/>
              </a:spcAft>
            </a:pPr>
            <a:r>
              <a:rPr sz="1400" b="0">
                <a:solidFill>
                  <a:srgbClr val="112239"/>
                </a:solidFill>
              </a:rPr>
              <a:t>96% of $5.0M plan</a:t>
            </a:r>
          </a:p>
        </p:txBody>
      </p:sp>
      <p:sp>
        <p:nvSpPr>
          <p:cNvPr id="8" name="Tile 2 panel">
            <a:extLst>
              <a:ext uri="{C183D7F6-B498-43B3-948B-1728B52AA6E4}">
                <adec:decorative xmlns:adec="http://schemas.microsoft.com/office/drawing/2017/decorative" val="1"/>
              </a:ext>
            </a:extLst>
          </p:cNvPr>
          <p:cNvSpPr/>
          <p:nvPr/>
        </p:nvSpPr>
        <p:spPr>
          <a:xfrm>
            <a:off x="4297679"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ile 2 accent">
            <a:extLst>
              <a:ext uri="{C183D7F6-B498-43B3-948B-1728B52AA6E4}">
                <adec:decorative xmlns:adec="http://schemas.microsoft.com/office/drawing/2017/decorative" val="1"/>
              </a:ext>
            </a:extLst>
          </p:cNvPr>
          <p:cNvSpPr/>
          <p:nvPr/>
        </p:nvSpPr>
        <p:spPr>
          <a:xfrm>
            <a:off x="4297679" y="2011680"/>
            <a:ext cx="73152" cy="2057400"/>
          </a:xfrm>
          <a:prstGeom prst="rect">
            <a:avLst/>
          </a:prstGeom>
          <a:solidFill>
            <a:srgbClr val="02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le 2"/>
          <p:cNvSpPr txBox="1"/>
          <p:nvPr/>
        </p:nvSpPr>
        <p:spPr>
          <a:xfrm>
            <a:off x="4480559"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GROSS MARGIN, Q2 2026</a:t>
            </a:r>
          </a:p>
          <a:p>
            <a:pPr>
              <a:spcAft>
                <a:spcPts val="400"/>
              </a:spcAft>
            </a:pPr>
            <a:r>
              <a:rPr sz="3600" b="1">
                <a:solidFill>
                  <a:srgbClr val="112239"/>
                </a:solidFill>
              </a:rPr>
              <a:t>74%</a:t>
            </a:r>
          </a:p>
          <a:p>
            <a:pPr>
              <a:spcAft>
                <a:spcPts val="400"/>
              </a:spcAft>
            </a:pPr>
            <a:r>
              <a:rPr sz="1400" b="0">
                <a:solidFill>
                  <a:srgbClr val="112239"/>
                </a:solidFill>
              </a:rPr>
              <a:t>+1 pp vs plan</a:t>
            </a:r>
          </a:p>
          <a:p>
            <a:pPr>
              <a:spcAft>
                <a:spcPts val="400"/>
              </a:spcAft>
            </a:pPr>
            <a:r>
              <a:rPr sz="1400" b="0">
                <a:solidFill>
                  <a:srgbClr val="112239"/>
                </a:solidFill>
              </a:rPr>
              <a:t>The only metric ahead of plan</a:t>
            </a:r>
          </a:p>
        </p:txBody>
      </p:sp>
      <p:sp>
        <p:nvSpPr>
          <p:cNvPr id="11" name="Tile 3 panel">
            <a:extLst>
              <a:ext uri="{C183D7F6-B498-43B3-948B-1728B52AA6E4}">
                <adec:decorative xmlns:adec="http://schemas.microsoft.com/office/drawing/2017/decorative" val="1"/>
              </a:ext>
            </a:extLst>
          </p:cNvPr>
          <p:cNvSpPr/>
          <p:nvPr/>
        </p:nvSpPr>
        <p:spPr>
          <a:xfrm>
            <a:off x="8046719" y="2011680"/>
            <a:ext cx="3520440" cy="2057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le 3 accent">
            <a:extLst>
              <a:ext uri="{C183D7F6-B498-43B3-948B-1728B52AA6E4}">
                <adec:decorative xmlns:adec="http://schemas.microsoft.com/office/drawing/2017/decorative" val="1"/>
              </a:ext>
            </a:extLst>
          </p:cNvPr>
          <p:cNvSpPr/>
          <p:nvPr/>
        </p:nvSpPr>
        <p:spPr>
          <a:xfrm>
            <a:off x="8046719" y="2011680"/>
            <a:ext cx="73152" cy="2057400"/>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ile 3"/>
          <p:cNvSpPr txBox="1"/>
          <p:nvPr/>
        </p:nvSpPr>
        <p:spPr>
          <a:xfrm>
            <a:off x="8229599" y="2121408"/>
            <a:ext cx="3200400" cy="1874519"/>
          </a:xfrm>
          <a:prstGeom prst="rect">
            <a:avLst/>
          </a:prstGeom>
          <a:noFill/>
        </p:spPr>
        <p:txBody>
          <a:bodyPr wrap="square" anchor="t" lIns="73152" rIns="73152">
            <a:spAutoFit/>
          </a:bodyPr>
          <a:lstStyle/>
          <a:p>
            <a:pPr>
              <a:spcAft>
                <a:spcPts val="400"/>
              </a:spcAft>
            </a:pPr>
            <a:r>
              <a:rPr sz="1200" b="1">
                <a:solidFill>
                  <a:srgbClr val="475467"/>
                </a:solidFill>
              </a:rPr>
              <a:t>PIPELINE COVERAGE, Q2 2026</a:t>
            </a:r>
          </a:p>
          <a:p>
            <a:pPr>
              <a:spcAft>
                <a:spcPts val="400"/>
              </a:spcAft>
            </a:pPr>
            <a:r>
              <a:rPr sz="3600" b="1">
                <a:solidFill>
                  <a:srgbClr val="112239"/>
                </a:solidFill>
              </a:rPr>
              <a:t>2.9x</a:t>
            </a:r>
          </a:p>
          <a:p>
            <a:pPr>
              <a:spcAft>
                <a:spcPts val="400"/>
              </a:spcAft>
            </a:pPr>
            <a:r>
              <a:rPr sz="1400" b="0">
                <a:solidFill>
                  <a:srgbClr val="112239"/>
                </a:solidFill>
              </a:rPr>
              <a:t>−0.3x vs 3.2x plan</a:t>
            </a:r>
          </a:p>
          <a:p>
            <a:pPr>
              <a:spcAft>
                <a:spcPts val="400"/>
              </a:spcAft>
            </a:pPr>
            <a:r>
              <a:rPr sz="1400" b="0">
                <a:solidFill>
                  <a:srgbClr val="112239"/>
                </a:solidFill>
              </a:rPr>
              <a:t>Closed 40% of its gap to plan</a:t>
            </a:r>
          </a:p>
        </p:txBody>
      </p:sp>
      <p:sp>
        <p:nvSpPr>
          <p:cNvPr id="14" name="Decision request"/>
          <p:cNvSpPr txBox="1"/>
          <p:nvPr/>
        </p:nvSpPr>
        <p:spPr>
          <a:xfrm>
            <a:off x="548640" y="4297680"/>
            <a:ext cx="11091672" cy="86868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do not assume Q3 plan recovery until pipeline-stage, retention, and scenario evidence is reviewed.</a:t>
            </a:r>
          </a:p>
          <a:p>
            <a:pPr>
              <a:spcAft>
                <a:spcPts val="400"/>
              </a:spcAft>
            </a:pPr>
            <a:r>
              <a:rPr sz="1400" b="0">
                <a:solidFill>
                  <a:srgbClr val="475467"/>
                </a:solidFill>
              </a:rPr>
              <a:t>The options and three evidence requests with owners close the deck.</a:t>
            </a:r>
          </a:p>
        </p:txBody>
      </p:sp>
      <p:sp>
        <p:nvSpPr>
          <p:cNvPr id="15" name="Definitions"/>
          <p:cNvSpPr txBox="1"/>
          <p:nvPr/>
        </p:nvSpPr>
        <p:spPr>
          <a:xfrm>
            <a:off x="548640" y="5303520"/>
            <a:ext cx="11091672" cy="640080"/>
          </a:xfrm>
          <a:prstGeom prst="rect">
            <a:avLst/>
          </a:prstGeom>
          <a:noFill/>
        </p:spPr>
        <p:txBody>
          <a:bodyPr wrap="square" anchor="t" lIns="73152" rIns="73152">
            <a:spAutoFit/>
          </a:bodyPr>
          <a:lstStyle/>
          <a:p>
            <a:pPr>
              <a:spcAft>
                <a:spcPts val="400"/>
              </a:spcAft>
            </a:pPr>
            <a:r>
              <a:rPr sz="1300" b="0">
                <a:solidFill>
                  <a:srgbClr val="475467"/>
                </a:solidFill>
              </a:rPr>
              <a:t>Definitions. Plan: the Q2 2026 plan. pp: percentage points. x: pipeline coverage multiple. Gap closed: the share of the gap between Q1 2026 actual and Q2 2026 plan that Q2 covered.</a:t>
            </a:r>
          </a:p>
        </p:txBody>
      </p:sp>
      <p:sp>
        <p:nvSpPr>
          <p:cNvPr id="16"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growth, attainment and gap closure are calculated from it.</a:t>
            </a:r>
          </a:p>
        </p:txBody>
      </p:sp>
      <p:sp>
        <p:nvSpPr>
          <p:cNvPr id="17"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20"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Growth is real but slower than planned, and the forward indicators are short of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The gain is real, the plan miss is in its size, and the forward indicators also trail plan.</a:t>
            </a:r>
          </a:p>
        </p:txBody>
      </p:sp>
      <p:sp>
        <p:nvSpPr>
          <p:cNvPr id="5" name="Message 1 panel">
            <a:extLst>
              <a:ext uri="{C183D7F6-B498-43B3-948B-1728B52AA6E4}">
                <adec:decorative xmlns:adec="http://schemas.microsoft.com/office/drawing/2017/decorative" val="1"/>
              </a:ext>
            </a:extLst>
          </p:cNvPr>
          <p:cNvSpPr/>
          <p:nvPr/>
        </p:nvSpPr>
        <p:spPr>
          <a:xfrm>
            <a:off x="548640" y="2011680"/>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essage 1 heading"/>
          <p:cNvSpPr txBox="1"/>
          <p:nvPr/>
        </p:nvSpPr>
        <p:spPr>
          <a:xfrm>
            <a:off x="685800" y="2084832"/>
            <a:ext cx="3566160" cy="841248"/>
          </a:xfrm>
          <a:prstGeom prst="rect">
            <a:avLst/>
          </a:prstGeom>
          <a:noFill/>
        </p:spPr>
        <p:txBody>
          <a:bodyPr wrap="square" anchor="ctr" lIns="73152" rIns="73152">
            <a:spAutoFit/>
          </a:bodyPr>
          <a:lstStyle/>
          <a:p>
            <a:pPr>
              <a:spcAft>
                <a:spcPts val="400"/>
              </a:spcAft>
            </a:pPr>
            <a:r>
              <a:rPr sz="1600" b="1">
                <a:solidFill>
                  <a:srgbClr val="006B66"/>
                </a:solidFill>
              </a:rPr>
              <a:t>1  Growth is slower than planned</a:t>
            </a:r>
          </a:p>
        </p:txBody>
      </p:sp>
      <p:sp>
        <p:nvSpPr>
          <p:cNvPr id="7" name="Message 1 evidence"/>
          <p:cNvSpPr txBox="1"/>
          <p:nvPr/>
        </p:nvSpPr>
        <p:spPr>
          <a:xfrm>
            <a:off x="4343400" y="2084832"/>
            <a:ext cx="7178040" cy="841248"/>
          </a:xfrm>
          <a:prstGeom prst="rect">
            <a:avLst/>
          </a:prstGeom>
          <a:noFill/>
        </p:spPr>
        <p:txBody>
          <a:bodyPr wrap="square" anchor="ctr" lIns="73152" rIns="73152">
            <a:spAutoFit/>
          </a:bodyPr>
          <a:lstStyle/>
          <a:p>
            <a:pPr>
              <a:spcAft>
                <a:spcPts val="400"/>
              </a:spcAft>
            </a:pPr>
            <a:r>
              <a:rPr sz="1400" b="0">
                <a:solidFill>
                  <a:srgbClr val="112239"/>
                </a:solidFill>
              </a:rPr>
              <a:t>Revenue rose $0.6M (+14.3%) on Q1. The plan required +19.0%. Q2 delivered 75% of the planned increase.</a:t>
            </a:r>
          </a:p>
        </p:txBody>
      </p:sp>
      <p:sp>
        <p:nvSpPr>
          <p:cNvPr id="8" name="Message 2 panel">
            <a:extLst>
              <a:ext uri="{C183D7F6-B498-43B3-948B-1728B52AA6E4}">
                <adec:decorative xmlns:adec="http://schemas.microsoft.com/office/drawing/2017/decorative" val="1"/>
              </a:ext>
            </a:extLst>
          </p:cNvPr>
          <p:cNvSpPr/>
          <p:nvPr/>
        </p:nvSpPr>
        <p:spPr>
          <a:xfrm>
            <a:off x="548640" y="3127248"/>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essage 2 heading"/>
          <p:cNvSpPr txBox="1"/>
          <p:nvPr/>
        </p:nvSpPr>
        <p:spPr>
          <a:xfrm>
            <a:off x="685800" y="3200400"/>
            <a:ext cx="3566160" cy="841248"/>
          </a:xfrm>
          <a:prstGeom prst="rect">
            <a:avLst/>
          </a:prstGeom>
          <a:noFill/>
        </p:spPr>
        <p:txBody>
          <a:bodyPr wrap="square" anchor="ctr" lIns="73152" rIns="73152">
            <a:spAutoFit/>
          </a:bodyPr>
          <a:lstStyle/>
          <a:p>
            <a:pPr>
              <a:spcAft>
                <a:spcPts val="400"/>
              </a:spcAft>
            </a:pPr>
            <a:r>
              <a:rPr sz="1600" b="1">
                <a:solidFill>
                  <a:srgbClr val="006B66"/>
                </a:solidFill>
              </a:rPr>
              <a:t>2  Margin beat plan; gross-profit dollars did not</a:t>
            </a:r>
          </a:p>
        </p:txBody>
      </p:sp>
      <p:sp>
        <p:nvSpPr>
          <p:cNvPr id="10" name="Message 2 evidence"/>
          <p:cNvSpPr txBox="1"/>
          <p:nvPr/>
        </p:nvSpPr>
        <p:spPr>
          <a:xfrm>
            <a:off x="4343400" y="3200400"/>
            <a:ext cx="7178040" cy="841248"/>
          </a:xfrm>
          <a:prstGeom prst="rect">
            <a:avLst/>
          </a:prstGeom>
          <a:noFill/>
        </p:spPr>
        <p:txBody>
          <a:bodyPr wrap="square" anchor="ctr" lIns="73152" rIns="73152">
            <a:spAutoFit/>
          </a:bodyPr>
          <a:lstStyle/>
          <a:p>
            <a:pPr>
              <a:spcAft>
                <a:spcPts val="400"/>
              </a:spcAft>
            </a:pPr>
            <a:r>
              <a:rPr sz="1400" b="0">
                <a:solidFill>
                  <a:srgbClr val="112239"/>
                </a:solidFill>
              </a:rPr>
              <a:t>Gross margin was 1 pp ahead of plan. Implied gross profit was $0.10M below plan, because revenue fell short.</a:t>
            </a:r>
          </a:p>
        </p:txBody>
      </p:sp>
      <p:sp>
        <p:nvSpPr>
          <p:cNvPr id="11" name="Message 3 panel">
            <a:extLst>
              <a:ext uri="{C183D7F6-B498-43B3-948B-1728B52AA6E4}">
                <adec:decorative xmlns:adec="http://schemas.microsoft.com/office/drawing/2017/decorative" val="1"/>
              </a:ext>
            </a:extLst>
          </p:cNvPr>
          <p:cNvSpPr/>
          <p:nvPr/>
        </p:nvSpPr>
        <p:spPr>
          <a:xfrm>
            <a:off x="548640" y="4242816"/>
            <a:ext cx="11091672" cy="987552"/>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ssage 3 heading"/>
          <p:cNvSpPr txBox="1"/>
          <p:nvPr/>
        </p:nvSpPr>
        <p:spPr>
          <a:xfrm>
            <a:off x="685800" y="4315968"/>
            <a:ext cx="3566160" cy="841248"/>
          </a:xfrm>
          <a:prstGeom prst="rect">
            <a:avLst/>
          </a:prstGeom>
          <a:noFill/>
        </p:spPr>
        <p:txBody>
          <a:bodyPr wrap="square" anchor="ctr" lIns="73152" rIns="73152">
            <a:spAutoFit/>
          </a:bodyPr>
          <a:lstStyle/>
          <a:p>
            <a:pPr>
              <a:spcAft>
                <a:spcPts val="400"/>
              </a:spcAft>
            </a:pPr>
            <a:r>
              <a:rPr sz="1600" b="1">
                <a:solidFill>
                  <a:srgbClr val="006B66"/>
                </a:solidFill>
              </a:rPr>
              <a:t>3  Forward indicators are short of plan</a:t>
            </a:r>
          </a:p>
        </p:txBody>
      </p:sp>
      <p:sp>
        <p:nvSpPr>
          <p:cNvPr id="13" name="Message 3 evidence"/>
          <p:cNvSpPr txBox="1"/>
          <p:nvPr/>
        </p:nvSpPr>
        <p:spPr>
          <a:xfrm>
            <a:off x="4343400" y="4315968"/>
            <a:ext cx="7178040" cy="841248"/>
          </a:xfrm>
          <a:prstGeom prst="rect">
            <a:avLst/>
          </a:prstGeom>
          <a:noFill/>
        </p:spPr>
        <p:txBody>
          <a:bodyPr wrap="square" anchor="ctr" lIns="73152" rIns="73152">
            <a:spAutoFit/>
          </a:bodyPr>
          <a:lstStyle/>
          <a:p>
            <a:pPr>
              <a:spcAft>
                <a:spcPts val="400"/>
              </a:spcAft>
            </a:pPr>
            <a:r>
              <a:rPr sz="1400" b="0">
                <a:solidFill>
                  <a:srgbClr val="112239"/>
                </a:solidFill>
              </a:rPr>
              <a:t>Pipeline coverage closed 40% of its gap to plan. Net revenue retention was 108% against a 110% plan.</a:t>
            </a:r>
          </a:p>
        </p:txBody>
      </p:sp>
      <p:sp>
        <p:nvSpPr>
          <p:cNvPr id="14" name="Evidence boundary"/>
          <p:cNvSpPr txBox="1"/>
          <p:nvPr/>
        </p:nvSpPr>
        <p:spPr>
          <a:xfrm>
            <a:off x="548640" y="5349240"/>
            <a:ext cx="11091672" cy="594360"/>
          </a:xfrm>
          <a:prstGeom prst="rect">
            <a:avLst/>
          </a:prstGeom>
          <a:noFill/>
        </p:spPr>
        <p:txBody>
          <a:bodyPr wrap="square" anchor="t" lIns="73152" rIns="73152">
            <a:spAutoFit/>
          </a:bodyPr>
          <a:lstStyle/>
          <a:p>
            <a:pPr>
              <a:spcAft>
                <a:spcPts val="400"/>
              </a:spcAft>
            </a:pPr>
            <a:r>
              <a:rPr sz="1300" b="0">
                <a:solidFill>
                  <a:srgbClr val="475467"/>
                </a:solidFill>
              </a:rPr>
              <a:t>No metric in this deck establishes a cause. Possible drivers, such as deal timing, product mix or a plan set too high, are hypotheses until segment, pipeline and plan-method data are reviewed.</a:t>
            </a:r>
          </a:p>
        </p:txBody>
      </p:sp>
      <p:sp>
        <p:nvSpPr>
          <p:cNvPr id="15"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changes, gap closure and implied gross profit are calculated (implied gross profit is derived).</a:t>
            </a:r>
          </a:p>
        </p:txBody>
      </p:sp>
      <p:sp>
        <p:nvSpPr>
          <p:cNvPr id="16"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9"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Revenue grew $0.6M but finished $0.2M (−4.0%)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Revenue rose on Q1 but delivered only part of the increase that the plan required.</a:t>
            </a:r>
          </a:p>
        </p:txBody>
      </p:sp>
      <p:graphicFrame>
        <p:nvGraphicFramePr>
          <p:cNvPr id="5" name="Revenue chart" descr="Column chart of revenue in USD millions: Q1 2026 actual (prior quarter) 4.2, Q2 2026 plan 5.0, Q2 2026 actual 4.8. Axis starts at zero."/>
          <p:cNvGraphicFramePr>
            <a:graphicFrameLocks noGrp="1"/>
          </p:cNvGraphicFramePr>
          <p:nvPr/>
        </p:nvGraphicFramePr>
        <p:xfrm>
          <a:off x="548640" y="1920240"/>
          <a:ext cx="6766560" cy="4023360"/>
        </p:xfrm>
        <a:graphic>
          <a:graphicData uri="http://schemas.openxmlformats.org/drawingml/2006/chart">
            <c:chart xmlns:c="http://schemas.openxmlformats.org/drawingml/2006/chart" r:id="rId2"/>
          </a:graphicData>
        </a:graphic>
      </p:graphicFrame>
      <p:sp>
        <p:nvSpPr>
          <p:cNvPr id="6" name="Revenue facts panel">
            <a:extLst>
              <a:ext uri="{C183D7F6-B498-43B3-948B-1728B52AA6E4}">
                <adec:decorative xmlns:adec="http://schemas.microsoft.com/office/drawing/2017/decorative" val="1"/>
              </a:ext>
            </a:extLst>
          </p:cNvPr>
          <p:cNvSpPr/>
          <p:nvPr/>
        </p:nvSpPr>
        <p:spPr>
          <a:xfrm>
            <a:off x="7589520" y="2011680"/>
            <a:ext cx="4050791" cy="3931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venue facts"/>
          <p:cNvSpPr txBox="1"/>
          <p:nvPr/>
        </p:nvSpPr>
        <p:spPr>
          <a:xfrm>
            <a:off x="7726679" y="2084831"/>
            <a:ext cx="3794760" cy="3794760"/>
          </a:xfrm>
          <a:prstGeom prst="rect">
            <a:avLst/>
          </a:prstGeom>
          <a:noFill/>
        </p:spPr>
        <p:txBody>
          <a:bodyPr wrap="square" anchor="t" lIns="73152" rIns="73152">
            <a:spAutoFit/>
          </a:bodyPr>
          <a:lstStyle/>
          <a:p>
            <a:pPr>
              <a:spcAft>
                <a:spcPts val="400"/>
              </a:spcAft>
            </a:pPr>
            <a:r>
              <a:rPr sz="1200" b="1">
                <a:solidFill>
                  <a:srgbClr val="475467"/>
                </a:solidFill>
              </a:rPr>
              <a:t>PLAN ATTAINMENT</a:t>
            </a:r>
          </a:p>
          <a:p>
            <a:pPr>
              <a:spcAft>
                <a:spcPts val="400"/>
              </a:spcAft>
            </a:pPr>
            <a:r>
              <a:rPr sz="3000" b="1">
                <a:solidFill>
                  <a:srgbClr val="112239"/>
                </a:solidFill>
              </a:rPr>
              <a:t>96.0%</a:t>
            </a:r>
          </a:p>
          <a:p>
            <a:pPr>
              <a:spcAft>
                <a:spcPts val="400"/>
              </a:spcAft>
            </a:pPr>
            <a:r>
              <a:rPr sz="1200" b="1">
                <a:solidFill>
                  <a:srgbClr val="475467"/>
                </a:solidFill>
              </a:rPr>
              <a:t>GROWTH REQUIRED BY PLAN</a:t>
            </a:r>
          </a:p>
          <a:p>
            <a:pPr>
              <a:spcAft>
                <a:spcPts val="400"/>
              </a:spcAft>
            </a:pPr>
            <a:r>
              <a:rPr sz="2000" b="1">
                <a:solidFill>
                  <a:srgbClr val="112239"/>
                </a:solidFill>
              </a:rPr>
              <a:t>+19.0% on Q1</a:t>
            </a:r>
          </a:p>
          <a:p>
            <a:pPr>
              <a:spcAft>
                <a:spcPts val="400"/>
              </a:spcAft>
            </a:pPr>
            <a:r>
              <a:rPr sz="1200" b="1">
                <a:solidFill>
                  <a:srgbClr val="475467"/>
                </a:solidFill>
              </a:rPr>
              <a:t>GROWTH DELIVERED</a:t>
            </a:r>
          </a:p>
          <a:p>
            <a:pPr>
              <a:spcAft>
                <a:spcPts val="400"/>
              </a:spcAft>
            </a:pPr>
            <a:r>
              <a:rPr sz="2000" b="1">
                <a:solidFill>
                  <a:srgbClr val="112239"/>
                </a:solidFill>
              </a:rPr>
              <a:t>+14.3% on Q1</a:t>
            </a:r>
          </a:p>
          <a:p>
            <a:pPr>
              <a:spcAft>
                <a:spcPts val="400"/>
              </a:spcAft>
            </a:pPr>
            <a:r>
              <a:rPr sz="1300" b="0">
                <a:solidFill>
                  <a:srgbClr val="112239"/>
                </a:solidFill>
              </a:rPr>
              <a:t>Q2 delivered 75% of the planned increase. The miss is a smaller gain, not a decline.</a:t>
            </a:r>
          </a:p>
          <a:p>
            <a:pPr>
              <a:spcAft>
                <a:spcPts val="400"/>
              </a:spcAft>
            </a:pPr>
            <a:r>
              <a:rPr sz="1300" b="0">
                <a:solidFill>
                  <a:srgbClr val="475467"/>
                </a:solidFill>
              </a:rPr>
              <a:t>The plan method is not stated, so the miss may reflect the plan as well as performance.</a:t>
            </a:r>
          </a:p>
        </p:txBody>
      </p:sp>
      <p:sp>
        <p:nvSpPr>
          <p:cNvPr id="8"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Revenue row; attainment and growth are calculated from it.</a:t>
            </a:r>
          </a:p>
        </p:txBody>
      </p:sp>
      <p:sp>
        <p:nvSpPr>
          <p:cNvPr id="9"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2"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Margin beat plan, but implied gross profit was $0.10M below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The margin beat added less than the revenue shortfall cost, so implied gross profit missed plan.</a:t>
            </a:r>
          </a:p>
        </p:txBody>
      </p:sp>
      <p:graphicFrame>
        <p:nvGraphicFramePr>
          <p:cNvPr id="5" name="Gross profit bridge chart" descr="Waterfall chart of implied gross profit in USD millions, axis from zero: Q2 2026 plan 3.65; revenue below plan at plan margin minus 0.15; gross margin above plan plus 0.05; Q2 2026 actual 3.55."/>
          <p:cNvGraphicFramePr>
            <a:graphicFrameLocks noGrp="1"/>
          </p:cNvGraphicFramePr>
          <p:nvPr/>
        </p:nvGraphicFramePr>
        <p:xfrm>
          <a:off x="548640" y="1920240"/>
          <a:ext cx="7040880" cy="3291840"/>
        </p:xfrm>
        <a:graphic>
          <a:graphicData uri="http://schemas.openxmlformats.org/drawingml/2006/chart">
            <c:chart xmlns:c="http://schemas.openxmlformats.org/drawingml/2006/chart" r:id="rId2"/>
          </a:graphicData>
        </a:graphic>
      </p:graphicFrame>
      <p:sp>
        <p:nvSpPr>
          <p:cNvPr id="6" name="Bridge label 1"/>
          <p:cNvSpPr txBox="1"/>
          <p:nvPr/>
        </p:nvSpPr>
        <p:spPr>
          <a:xfrm>
            <a:off x="711403" y="2767888"/>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$3.65M</a:t>
            </a:r>
          </a:p>
        </p:txBody>
      </p:sp>
      <p:sp>
        <p:nvSpPr>
          <p:cNvPr id="7" name="Bridge label 2"/>
          <p:cNvSpPr txBox="1"/>
          <p:nvPr/>
        </p:nvSpPr>
        <p:spPr>
          <a:xfrm>
            <a:off x="2401214" y="2767888"/>
            <a:ext cx="1645920" cy="347472"/>
          </a:xfrm>
          <a:prstGeom prst="rect">
            <a:avLst/>
          </a:prstGeom>
          <a:noFill/>
        </p:spPr>
        <p:txBody>
          <a:bodyPr wrap="square" anchor="t" lIns="73152" rIns="73152">
            <a:spAutoFit/>
          </a:bodyPr>
          <a:lstStyle/>
          <a:p>
            <a:pPr algn="ctr">
              <a:spcAft>
                <a:spcPts val="400"/>
              </a:spcAft>
            </a:pPr>
            <a:r>
              <a:rPr sz="1600" b="1">
                <a:solidFill>
                  <a:srgbClr val="B42318"/>
                </a:solidFill>
              </a:rPr>
              <a:t>−$0.15M</a:t>
            </a:r>
          </a:p>
        </p:txBody>
      </p:sp>
      <p:sp>
        <p:nvSpPr>
          <p:cNvPr id="8" name="Bridge label 3"/>
          <p:cNvSpPr txBox="1"/>
          <p:nvPr/>
        </p:nvSpPr>
        <p:spPr>
          <a:xfrm>
            <a:off x="4091025" y="2805525"/>
            <a:ext cx="1645920" cy="347472"/>
          </a:xfrm>
          <a:prstGeom prst="rect">
            <a:avLst/>
          </a:prstGeom>
          <a:noFill/>
        </p:spPr>
        <p:txBody>
          <a:bodyPr wrap="square" anchor="t" lIns="73152" rIns="73152">
            <a:spAutoFit/>
          </a:bodyPr>
          <a:lstStyle/>
          <a:p>
            <a:pPr algn="ctr">
              <a:spcAft>
                <a:spcPts val="400"/>
              </a:spcAft>
            </a:pPr>
            <a:r>
              <a:rPr sz="1600" b="1">
                <a:solidFill>
                  <a:srgbClr val="027A48"/>
                </a:solidFill>
              </a:rPr>
              <a:t>+$0.05M</a:t>
            </a:r>
          </a:p>
        </p:txBody>
      </p:sp>
      <p:sp>
        <p:nvSpPr>
          <p:cNvPr id="9" name="Bridge label 4"/>
          <p:cNvSpPr txBox="1"/>
          <p:nvPr/>
        </p:nvSpPr>
        <p:spPr>
          <a:xfrm>
            <a:off x="5780836" y="2805525"/>
            <a:ext cx="1645920" cy="347472"/>
          </a:xfrm>
          <a:prstGeom prst="rect">
            <a:avLst/>
          </a:prstGeom>
          <a:noFill/>
        </p:spPr>
        <p:txBody>
          <a:bodyPr wrap="square" anchor="t" lIns="73152" rIns="73152">
            <a:spAutoFit/>
          </a:bodyPr>
          <a:lstStyle/>
          <a:p>
            <a:pPr algn="ctr">
              <a:spcAft>
                <a:spcPts val="400"/>
              </a:spcAft>
            </a:pPr>
            <a:r>
              <a:rPr sz="1600" b="1">
                <a:solidFill>
                  <a:srgbClr val="112239"/>
                </a:solidFill>
              </a:rPr>
              <a:t>$3.55M</a:t>
            </a:r>
          </a:p>
        </p:txBody>
      </p:sp>
      <p:cxnSp>
        <p:nvCxnSpPr>
          <p:cNvPr id="10" name="Bridge connector 1">
            <a:extLst>
              <a:ext uri="{C183D7F6-B498-43B3-948B-1728B52AA6E4}">
                <adec:decorative xmlns:adec="http://schemas.microsoft.com/office/drawing/2017/decorative" val="1"/>
              </a:ext>
            </a:extLst>
          </p:cNvPr>
          <p:cNvCxnSpPr/>
          <p:nvPr/>
        </p:nvCxnSpPr>
        <p:spPr>
          <a:xfrm>
            <a:off x="2079463" y="3151936"/>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1" name="Bridge connector 2">
            <a:extLst>
              <a:ext uri="{C183D7F6-B498-43B3-948B-1728B52AA6E4}">
                <adec:decorative xmlns:adec="http://schemas.microsoft.com/office/drawing/2017/decorative" val="1"/>
              </a:ext>
            </a:extLst>
          </p:cNvPr>
          <p:cNvCxnSpPr/>
          <p:nvPr/>
        </p:nvCxnSpPr>
        <p:spPr>
          <a:xfrm>
            <a:off x="3769274" y="3208007"/>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 name="Bridge connector 3">
            <a:extLst>
              <a:ext uri="{C183D7F6-B498-43B3-948B-1728B52AA6E4}">
                <adec:decorative xmlns:adec="http://schemas.microsoft.com/office/drawing/2017/decorative" val="1"/>
              </a:ext>
            </a:extLst>
          </p:cNvPr>
          <p:cNvCxnSpPr/>
          <p:nvPr/>
        </p:nvCxnSpPr>
        <p:spPr>
          <a:xfrm>
            <a:off x="5459085" y="3189573"/>
            <a:ext cx="599611" cy="0"/>
          </a:xfrm>
          <a:prstGeom prst="line">
            <a:avLst/>
          </a:prstGeom>
          <a:ln w="12700">
            <a:solidFill>
              <a:srgbClr val="475467"/>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Gross profit facts panel">
            <a:extLst>
              <a:ext uri="{C183D7F6-B498-43B3-948B-1728B52AA6E4}">
                <adec:decorative xmlns:adec="http://schemas.microsoft.com/office/drawing/2017/decorative" val="1"/>
              </a:ext>
            </a:extLst>
          </p:cNvPr>
          <p:cNvSpPr/>
          <p:nvPr/>
        </p:nvSpPr>
        <p:spPr>
          <a:xfrm>
            <a:off x="7818120" y="2011680"/>
            <a:ext cx="3822191" cy="32004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ross profit facts"/>
          <p:cNvSpPr txBox="1"/>
          <p:nvPr/>
        </p:nvSpPr>
        <p:spPr>
          <a:xfrm>
            <a:off x="7955279" y="2084831"/>
            <a:ext cx="3566160" cy="3090672"/>
          </a:xfrm>
          <a:prstGeom prst="rect">
            <a:avLst/>
          </a:prstGeom>
          <a:noFill/>
        </p:spPr>
        <p:txBody>
          <a:bodyPr wrap="square" anchor="t" lIns="73152" rIns="73152">
            <a:spAutoFit/>
          </a:bodyPr>
          <a:lstStyle/>
          <a:p>
            <a:pPr>
              <a:spcAft>
                <a:spcPts val="400"/>
              </a:spcAft>
            </a:pPr>
            <a:r>
              <a:rPr sz="1200" b="1">
                <a:solidFill>
                  <a:srgbClr val="475467"/>
                </a:solidFill>
              </a:rPr>
              <a:t>HOW TO READ THE BRIDGE</a:t>
            </a:r>
          </a:p>
          <a:p>
            <a:pPr>
              <a:spcAft>
                <a:spcPts val="400"/>
              </a:spcAft>
            </a:pPr>
            <a:r>
              <a:rPr sz="1400" b="0">
                <a:solidFill>
                  <a:srgbClr val="112239"/>
                </a:solidFill>
              </a:rPr>
              <a:t>Plan $3.65M, less the revenue shortfall at plan margin ($0.15M), plus the margin gain on actual revenue ($0.05M), gives actual $3.55M.</a:t>
            </a:r>
          </a:p>
          <a:p>
            <a:pPr>
              <a:spcAft>
                <a:spcPts val="400"/>
              </a:spcAft>
            </a:pPr>
            <a:r>
              <a:rPr sz="1400" b="0">
                <a:solidFill>
                  <a:srgbClr val="112239"/>
                </a:solidFill>
              </a:rPr>
              <a:t>Gross margin 74% vs 73% plan. Net variance −2.7% of plan gross profit.</a:t>
            </a:r>
          </a:p>
          <a:p>
            <a:pPr>
              <a:spcAft>
                <a:spcPts val="400"/>
              </a:spcAft>
            </a:pPr>
            <a:r>
              <a:rPr sz="1400" b="0">
                <a:solidFill>
                  <a:srgbClr val="475467"/>
                </a:solidFill>
              </a:rPr>
              <a:t>Q1 $3.02M (+17.5% in Q2).</a:t>
            </a:r>
          </a:p>
        </p:txBody>
      </p:sp>
      <p:sp>
        <p:nvSpPr>
          <p:cNvPr id="15" name="Assumption note"/>
          <p:cNvSpPr txBox="1"/>
          <p:nvPr/>
        </p:nvSpPr>
        <p:spPr>
          <a:xfrm>
            <a:off x="548640" y="5349240"/>
            <a:ext cx="11091672" cy="594360"/>
          </a:xfrm>
          <a:prstGeom prst="rect">
            <a:avLst/>
          </a:prstGeom>
          <a:solidFill>
            <a:srgbClr val="F1F5F9"/>
          </a:solidFill>
        </p:spPr>
        <p:txBody>
          <a:bodyPr wrap="square" anchor="t" lIns="73152" rIns="73152">
            <a:spAutoFit/>
          </a:bodyPr>
          <a:lstStyle/>
          <a:p>
            <a:pPr>
              <a:spcAft>
                <a:spcPts val="400"/>
              </a:spcAft>
            </a:pPr>
            <a:r>
              <a:rPr sz="1400" b="1">
                <a:solidFill>
                  <a:srgbClr val="B42318"/>
                </a:solidFill>
              </a:rPr>
              <a:t>Derived figure. </a:t>
            </a:r>
            <a:r>
              <a:rPr sz="1400" b="0">
                <a:solidFill>
                  <a:srgbClr val="112239"/>
                </a:solidFill>
              </a:rPr>
              <a:t>Implied gross profit = revenue × gross margin. The source does not state the gross-margin basis; these figures assume it applies to reported revenue. Operating cost and profit are not in the source. Axis starts at zero.</a:t>
            </a:r>
          </a:p>
        </p:txBody>
      </p:sp>
      <p:sp>
        <p:nvSpPr>
          <p:cNvPr id="16"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Revenue and Gross_Margin rows; implied gross profit is derived from them.</a:t>
            </a:r>
          </a:p>
        </p:txBody>
      </p:sp>
      <p:sp>
        <p:nvSpPr>
          <p:cNvPr id="17"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20"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Every metric improved on Q1, but only gross margin reached plan</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All seven metrics improved on Q1, yet six of them stayed short of plan.</a:t>
            </a:r>
          </a:p>
        </p:txBody>
      </p:sp>
      <p:graphicFrame>
        <p:nvGraphicFramePr>
          <p:cNvPr id="5" name="Scorecard table" descr="Scorecard table: seven metrics with Q1 actual, Q2 actual, Q2 plan, change versus Q1, variance versus plan, and status. Gross margin is ahead of plan; the other six are short of plan."/>
          <p:cNvGraphicFramePr>
            <a:graphicFrameLocks noGrp="1"/>
          </p:cNvGraphicFramePr>
          <p:nvPr/>
        </p:nvGraphicFramePr>
        <p:xfrm>
          <a:off x="548640" y="1965960"/>
          <a:ext cx="11091672" cy="3474720"/>
        </p:xfrm>
        <a:graphic>
          <a:graphicData uri="http://schemas.openxmlformats.org/drawingml/2006/table">
            <a:tbl>
              <a:tblPr firstRow="1" bandRow="1">
                <a:tableStyleId>{5C22544A-7EE6-4342-B048-85BDC9FD1C3A}</a:tableStyleId>
              </a:tblPr>
              <a:tblGrid>
                <a:gridCol w="2514600"/>
                <a:gridCol w="1234440"/>
                <a:gridCol w="1234440"/>
                <a:gridCol w="1234440"/>
                <a:gridCol w="1600200"/>
                <a:gridCol w="1691640"/>
                <a:gridCol w="1581912"/>
              </a:tblGrid>
              <a:tr h="434340">
                <a:tc>
                  <a:txBody>
                    <a:bodyPr/>
                    <a:lstStyle/>
                    <a:p>
                      <a:pPr algn="l"/>
                      <a:r>
                        <a:rPr sz="1400" b="1">
                          <a:solidFill>
                            <a:srgbClr val="FFFFFF"/>
                          </a:solidFill>
                        </a:rPr>
                        <a:t>Metric</a:t>
                      </a:r>
                    </a:p>
                  </a:txBody>
                  <a:tcPr anchor="ctr">
                    <a:solidFill>
                      <a:srgbClr val="112239"/>
                    </a:solidFill>
                  </a:tcPr>
                </a:tc>
                <a:tc>
                  <a:txBody>
                    <a:bodyPr/>
                    <a:lstStyle/>
                    <a:p>
                      <a:pPr algn="r"/>
                      <a:r>
                        <a:rPr sz="1400" b="1">
                          <a:solidFill>
                            <a:srgbClr val="FFFFFF"/>
                          </a:solidFill>
                        </a:rPr>
                        <a:t>Q1 2026</a:t>
                      </a:r>
                    </a:p>
                  </a:txBody>
                  <a:tcPr anchor="ctr">
                    <a:solidFill>
                      <a:srgbClr val="112239"/>
                    </a:solidFill>
                  </a:tcPr>
                </a:tc>
                <a:tc>
                  <a:txBody>
                    <a:bodyPr/>
                    <a:lstStyle/>
                    <a:p>
                      <a:pPr algn="r"/>
                      <a:r>
                        <a:rPr sz="1400" b="1">
                          <a:solidFill>
                            <a:srgbClr val="FFFFFF"/>
                          </a:solidFill>
                        </a:rPr>
                        <a:t>Q2 2026</a:t>
                      </a:r>
                    </a:p>
                  </a:txBody>
                  <a:tcPr anchor="ctr">
                    <a:solidFill>
                      <a:srgbClr val="112239"/>
                    </a:solidFill>
                  </a:tcPr>
                </a:tc>
                <a:tc>
                  <a:txBody>
                    <a:bodyPr/>
                    <a:lstStyle/>
                    <a:p>
                      <a:pPr algn="r"/>
                      <a:r>
                        <a:rPr sz="1400" b="1">
                          <a:solidFill>
                            <a:srgbClr val="FFFFFF"/>
                          </a:solidFill>
                        </a:rPr>
                        <a:t>Q2 plan</a:t>
                      </a:r>
                    </a:p>
                  </a:txBody>
                  <a:tcPr anchor="ctr">
                    <a:solidFill>
                      <a:srgbClr val="112239"/>
                    </a:solidFill>
                  </a:tcPr>
                </a:tc>
                <a:tc>
                  <a:txBody>
                    <a:bodyPr/>
                    <a:lstStyle/>
                    <a:p>
                      <a:pPr algn="r"/>
                      <a:r>
                        <a:rPr sz="1400" b="1">
                          <a:solidFill>
                            <a:srgbClr val="FFFFFF"/>
                          </a:solidFill>
                        </a:rPr>
                        <a:t>Change vs Q1</a:t>
                      </a:r>
                    </a:p>
                  </a:txBody>
                  <a:tcPr anchor="ctr">
                    <a:solidFill>
                      <a:srgbClr val="112239"/>
                    </a:solidFill>
                  </a:tcPr>
                </a:tc>
                <a:tc>
                  <a:txBody>
                    <a:bodyPr/>
                    <a:lstStyle/>
                    <a:p>
                      <a:pPr algn="r"/>
                      <a:r>
                        <a:rPr sz="1400" b="1">
                          <a:solidFill>
                            <a:srgbClr val="FFFFFF"/>
                          </a:solidFill>
                        </a:rPr>
                        <a:t>Variance vs plan</a:t>
                      </a:r>
                    </a:p>
                  </a:txBody>
                  <a:tcPr anchor="ctr">
                    <a:solidFill>
                      <a:srgbClr val="112239"/>
                    </a:solidFill>
                  </a:tcPr>
                </a:tc>
                <a:tc>
                  <a:txBody>
                    <a:bodyPr/>
                    <a:lstStyle/>
                    <a:p>
                      <a:pPr algn="l"/>
                      <a:r>
                        <a:rPr sz="1400" b="1">
                          <a:solidFill>
                            <a:srgbClr val="FFFFFF"/>
                          </a:solidFill>
                        </a:rPr>
                        <a:t>Status</a:t>
                      </a:r>
                    </a:p>
                  </a:txBody>
                  <a:tcPr anchor="ctr">
                    <a:solidFill>
                      <a:srgbClr val="112239"/>
                    </a:solidFill>
                  </a:tcPr>
                </a:tc>
              </a:tr>
              <a:tr h="434340">
                <a:tc>
                  <a:txBody>
                    <a:bodyPr/>
                    <a:lstStyle/>
                    <a:p>
                      <a:pPr algn="l"/>
                      <a:r>
                        <a:rPr sz="1400" b="1">
                          <a:solidFill>
                            <a:srgbClr val="112239"/>
                          </a:solidFill>
                        </a:rPr>
                        <a:t>Revenue</a:t>
                      </a:r>
                    </a:p>
                  </a:txBody>
                  <a:tcPr anchor="ctr">
                    <a:solidFill>
                      <a:srgbClr val="FFFFFF"/>
                    </a:solidFill>
                  </a:tcPr>
                </a:tc>
                <a:tc>
                  <a:txBody>
                    <a:bodyPr/>
                    <a:lstStyle/>
                    <a:p>
                      <a:pPr algn="r"/>
                      <a:r>
                        <a:rPr sz="1400" b="0">
                          <a:solidFill>
                            <a:srgbClr val="475467"/>
                          </a:solidFill>
                        </a:rPr>
                        <a:t>$4.2M</a:t>
                      </a:r>
                    </a:p>
                  </a:txBody>
                  <a:tcPr anchor="ctr">
                    <a:solidFill>
                      <a:srgbClr val="FFFFFF"/>
                    </a:solidFill>
                  </a:tcPr>
                </a:tc>
                <a:tc>
                  <a:txBody>
                    <a:bodyPr/>
                    <a:lstStyle/>
                    <a:p>
                      <a:pPr algn="r"/>
                      <a:r>
                        <a:rPr sz="1400" b="1">
                          <a:solidFill>
                            <a:srgbClr val="112239"/>
                          </a:solidFill>
                        </a:rPr>
                        <a:t>$4.8M</a:t>
                      </a:r>
                    </a:p>
                  </a:txBody>
                  <a:tcPr anchor="ctr">
                    <a:solidFill>
                      <a:srgbClr val="FFFFFF"/>
                    </a:solidFill>
                  </a:tcPr>
                </a:tc>
                <a:tc>
                  <a:txBody>
                    <a:bodyPr/>
                    <a:lstStyle/>
                    <a:p>
                      <a:pPr algn="r"/>
                      <a:r>
                        <a:rPr sz="1400" b="0">
                          <a:solidFill>
                            <a:srgbClr val="475467"/>
                          </a:solidFill>
                        </a:rPr>
                        <a:t>$5.0M</a:t>
                      </a:r>
                    </a:p>
                  </a:txBody>
                  <a:tcPr anchor="ctr">
                    <a:solidFill>
                      <a:srgbClr val="FFFFFF"/>
                    </a:solidFill>
                  </a:tcPr>
                </a:tc>
                <a:tc>
                  <a:txBody>
                    <a:bodyPr/>
                    <a:lstStyle/>
                    <a:p>
                      <a:pPr algn="r"/>
                      <a:r>
                        <a:rPr sz="1400" b="0">
                          <a:solidFill>
                            <a:srgbClr val="112239"/>
                          </a:solidFill>
                        </a:rPr>
                        <a:t>+$0.6M</a:t>
                      </a:r>
                    </a:p>
                  </a:txBody>
                  <a:tcPr anchor="ctr">
                    <a:solidFill>
                      <a:srgbClr val="FFFFFF"/>
                    </a:solidFill>
                  </a:tcPr>
                </a:tc>
                <a:tc>
                  <a:txBody>
                    <a:bodyPr/>
                    <a:lstStyle/>
                    <a:p>
                      <a:pPr algn="r"/>
                      <a:r>
                        <a:rPr sz="1400" b="1">
                          <a:solidFill>
                            <a:srgbClr val="B42318"/>
                          </a:solidFill>
                        </a:rPr>
                        <a:t>−$0.2M</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34340">
                <a:tc>
                  <a:txBody>
                    <a:bodyPr/>
                    <a:lstStyle/>
                    <a:p>
                      <a:pPr algn="l"/>
                      <a:r>
                        <a:rPr sz="1400" b="1">
                          <a:solidFill>
                            <a:srgbClr val="112239"/>
                          </a:solidFill>
                        </a:rPr>
                        <a:t>New ARR</a:t>
                      </a:r>
                    </a:p>
                  </a:txBody>
                  <a:tcPr anchor="ctr">
                    <a:solidFill>
                      <a:srgbClr val="F1F5F9"/>
                    </a:solidFill>
                  </a:tcPr>
                </a:tc>
                <a:tc>
                  <a:txBody>
                    <a:bodyPr/>
                    <a:lstStyle/>
                    <a:p>
                      <a:pPr algn="r"/>
                      <a:r>
                        <a:rPr sz="1400" b="0">
                          <a:solidFill>
                            <a:srgbClr val="475467"/>
                          </a:solidFill>
                        </a:rPr>
                        <a:t>$1.1M</a:t>
                      </a:r>
                    </a:p>
                  </a:txBody>
                  <a:tcPr anchor="ctr">
                    <a:solidFill>
                      <a:srgbClr val="F1F5F9"/>
                    </a:solidFill>
                  </a:tcPr>
                </a:tc>
                <a:tc>
                  <a:txBody>
                    <a:bodyPr/>
                    <a:lstStyle/>
                    <a:p>
                      <a:pPr algn="r"/>
                      <a:r>
                        <a:rPr sz="1400" b="1">
                          <a:solidFill>
                            <a:srgbClr val="112239"/>
                          </a:solidFill>
                        </a:rPr>
                        <a:t>$1.4M</a:t>
                      </a:r>
                    </a:p>
                  </a:txBody>
                  <a:tcPr anchor="ctr">
                    <a:solidFill>
                      <a:srgbClr val="F1F5F9"/>
                    </a:solidFill>
                  </a:tcPr>
                </a:tc>
                <a:tc>
                  <a:txBody>
                    <a:bodyPr/>
                    <a:lstStyle/>
                    <a:p>
                      <a:pPr algn="r"/>
                      <a:r>
                        <a:rPr sz="1400" b="0">
                          <a:solidFill>
                            <a:srgbClr val="475467"/>
                          </a:solidFill>
                        </a:rPr>
                        <a:t>$1.5M</a:t>
                      </a:r>
                    </a:p>
                  </a:txBody>
                  <a:tcPr anchor="ctr">
                    <a:solidFill>
                      <a:srgbClr val="F1F5F9"/>
                    </a:solidFill>
                  </a:tcPr>
                </a:tc>
                <a:tc>
                  <a:txBody>
                    <a:bodyPr/>
                    <a:lstStyle/>
                    <a:p>
                      <a:pPr algn="r"/>
                      <a:r>
                        <a:rPr sz="1400" b="0">
                          <a:solidFill>
                            <a:srgbClr val="112239"/>
                          </a:solidFill>
                        </a:rPr>
                        <a:t>+$0.3M</a:t>
                      </a:r>
                    </a:p>
                  </a:txBody>
                  <a:tcPr anchor="ctr">
                    <a:solidFill>
                      <a:srgbClr val="F1F5F9"/>
                    </a:solidFill>
                  </a:tcPr>
                </a:tc>
                <a:tc>
                  <a:txBody>
                    <a:bodyPr/>
                    <a:lstStyle/>
                    <a:p>
                      <a:pPr algn="r"/>
                      <a:r>
                        <a:rPr sz="1400" b="1">
                          <a:solidFill>
                            <a:srgbClr val="B42318"/>
                          </a:solidFill>
                        </a:rPr>
                        <a:t>−$0.1M</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Gross margin</a:t>
                      </a:r>
                    </a:p>
                  </a:txBody>
                  <a:tcPr anchor="ctr">
                    <a:solidFill>
                      <a:srgbClr val="FFFFFF"/>
                    </a:solidFill>
                  </a:tcPr>
                </a:tc>
                <a:tc>
                  <a:txBody>
                    <a:bodyPr/>
                    <a:lstStyle/>
                    <a:p>
                      <a:pPr algn="r"/>
                      <a:r>
                        <a:rPr sz="1400" b="0">
                          <a:solidFill>
                            <a:srgbClr val="475467"/>
                          </a:solidFill>
                        </a:rPr>
                        <a:t>72%</a:t>
                      </a:r>
                    </a:p>
                  </a:txBody>
                  <a:tcPr anchor="ctr">
                    <a:solidFill>
                      <a:srgbClr val="FFFFFF"/>
                    </a:solidFill>
                  </a:tcPr>
                </a:tc>
                <a:tc>
                  <a:txBody>
                    <a:bodyPr/>
                    <a:lstStyle/>
                    <a:p>
                      <a:pPr algn="r"/>
                      <a:r>
                        <a:rPr sz="1400" b="1">
                          <a:solidFill>
                            <a:srgbClr val="112239"/>
                          </a:solidFill>
                        </a:rPr>
                        <a:t>74%</a:t>
                      </a:r>
                    </a:p>
                  </a:txBody>
                  <a:tcPr anchor="ctr">
                    <a:solidFill>
                      <a:srgbClr val="FFFFFF"/>
                    </a:solidFill>
                  </a:tcPr>
                </a:tc>
                <a:tc>
                  <a:txBody>
                    <a:bodyPr/>
                    <a:lstStyle/>
                    <a:p>
                      <a:pPr algn="r"/>
                      <a:r>
                        <a:rPr sz="1400" b="0">
                          <a:solidFill>
                            <a:srgbClr val="475467"/>
                          </a:solidFill>
                        </a:rPr>
                        <a:t>73%</a:t>
                      </a:r>
                    </a:p>
                  </a:txBody>
                  <a:tcPr anchor="ctr">
                    <a:solidFill>
                      <a:srgbClr val="FFFFFF"/>
                    </a:solidFill>
                  </a:tcPr>
                </a:tc>
                <a:tc>
                  <a:txBody>
                    <a:bodyPr/>
                    <a:lstStyle/>
                    <a:p>
                      <a:pPr algn="r"/>
                      <a:r>
                        <a:rPr sz="1400" b="0">
                          <a:solidFill>
                            <a:srgbClr val="112239"/>
                          </a:solidFill>
                        </a:rPr>
                        <a:t>+2 pp</a:t>
                      </a:r>
                    </a:p>
                  </a:txBody>
                  <a:tcPr anchor="ctr">
                    <a:solidFill>
                      <a:srgbClr val="FFFFFF"/>
                    </a:solidFill>
                  </a:tcPr>
                </a:tc>
                <a:tc>
                  <a:txBody>
                    <a:bodyPr/>
                    <a:lstStyle/>
                    <a:p>
                      <a:pPr algn="r"/>
                      <a:r>
                        <a:rPr sz="1400" b="1">
                          <a:solidFill>
                            <a:srgbClr val="027A48"/>
                          </a:solidFill>
                        </a:rPr>
                        <a:t>+1 pp</a:t>
                      </a:r>
                    </a:p>
                  </a:txBody>
                  <a:tcPr anchor="ctr">
                    <a:solidFill>
                      <a:srgbClr val="FFFFFF"/>
                    </a:solidFill>
                  </a:tcPr>
                </a:tc>
                <a:tc>
                  <a:txBody>
                    <a:bodyPr/>
                    <a:lstStyle/>
                    <a:p>
                      <a:pPr algn="l"/>
                      <a:r>
                        <a:rPr sz="1400" b="1">
                          <a:solidFill>
                            <a:srgbClr val="027A48"/>
                          </a:solidFill>
                        </a:rPr>
                        <a:t>Ahead of plan</a:t>
                      </a:r>
                    </a:p>
                  </a:txBody>
                  <a:tcPr anchor="ctr">
                    <a:solidFill>
                      <a:srgbClr val="FFFFFF"/>
                    </a:solidFill>
                  </a:tcPr>
                </a:tc>
              </a:tr>
              <a:tr h="434340">
                <a:tc>
                  <a:txBody>
                    <a:bodyPr/>
                    <a:lstStyle/>
                    <a:p>
                      <a:pPr algn="l"/>
                      <a:r>
                        <a:rPr sz="1400" b="1">
                          <a:solidFill>
                            <a:srgbClr val="112239"/>
                          </a:solidFill>
                        </a:rPr>
                        <a:t>Net revenue retention</a:t>
                      </a:r>
                    </a:p>
                  </a:txBody>
                  <a:tcPr anchor="ctr">
                    <a:solidFill>
                      <a:srgbClr val="F1F5F9"/>
                    </a:solidFill>
                  </a:tcPr>
                </a:tc>
                <a:tc>
                  <a:txBody>
                    <a:bodyPr/>
                    <a:lstStyle/>
                    <a:p>
                      <a:pPr algn="r"/>
                      <a:r>
                        <a:rPr sz="1400" b="0">
                          <a:solidFill>
                            <a:srgbClr val="475467"/>
                          </a:solidFill>
                        </a:rPr>
                        <a:t>106%</a:t>
                      </a:r>
                    </a:p>
                  </a:txBody>
                  <a:tcPr anchor="ctr">
                    <a:solidFill>
                      <a:srgbClr val="F1F5F9"/>
                    </a:solidFill>
                  </a:tcPr>
                </a:tc>
                <a:tc>
                  <a:txBody>
                    <a:bodyPr/>
                    <a:lstStyle/>
                    <a:p>
                      <a:pPr algn="r"/>
                      <a:r>
                        <a:rPr sz="1400" b="1">
                          <a:solidFill>
                            <a:srgbClr val="112239"/>
                          </a:solidFill>
                        </a:rPr>
                        <a:t>108%</a:t>
                      </a:r>
                    </a:p>
                  </a:txBody>
                  <a:tcPr anchor="ctr">
                    <a:solidFill>
                      <a:srgbClr val="F1F5F9"/>
                    </a:solidFill>
                  </a:tcPr>
                </a:tc>
                <a:tc>
                  <a:txBody>
                    <a:bodyPr/>
                    <a:lstStyle/>
                    <a:p>
                      <a:pPr algn="r"/>
                      <a:r>
                        <a:rPr sz="1400" b="0">
                          <a:solidFill>
                            <a:srgbClr val="475467"/>
                          </a:solidFill>
                        </a:rPr>
                        <a:t>110%</a:t>
                      </a:r>
                    </a:p>
                  </a:txBody>
                  <a:tcPr anchor="ctr">
                    <a:solidFill>
                      <a:srgbClr val="F1F5F9"/>
                    </a:solidFill>
                  </a:tcPr>
                </a:tc>
                <a:tc>
                  <a:txBody>
                    <a:bodyPr/>
                    <a:lstStyle/>
                    <a:p>
                      <a:pPr algn="r"/>
                      <a:r>
                        <a:rPr sz="1400" b="0">
                          <a:solidFill>
                            <a:srgbClr val="112239"/>
                          </a:solidFill>
                        </a:rPr>
                        <a:t>+2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Pipeline coverage</a:t>
                      </a:r>
                    </a:p>
                  </a:txBody>
                  <a:tcPr anchor="ctr">
                    <a:solidFill>
                      <a:srgbClr val="FFFFFF"/>
                    </a:solidFill>
                  </a:tcPr>
                </a:tc>
                <a:tc>
                  <a:txBody>
                    <a:bodyPr/>
                    <a:lstStyle/>
                    <a:p>
                      <a:pPr algn="r"/>
                      <a:r>
                        <a:rPr sz="1400" b="0">
                          <a:solidFill>
                            <a:srgbClr val="475467"/>
                          </a:solidFill>
                        </a:rPr>
                        <a:t>2.7x</a:t>
                      </a:r>
                    </a:p>
                  </a:txBody>
                  <a:tcPr anchor="ctr">
                    <a:solidFill>
                      <a:srgbClr val="FFFFFF"/>
                    </a:solidFill>
                  </a:tcPr>
                </a:tc>
                <a:tc>
                  <a:txBody>
                    <a:bodyPr/>
                    <a:lstStyle/>
                    <a:p>
                      <a:pPr algn="r"/>
                      <a:r>
                        <a:rPr sz="1400" b="1">
                          <a:solidFill>
                            <a:srgbClr val="112239"/>
                          </a:solidFill>
                        </a:rPr>
                        <a:t>2.9x</a:t>
                      </a:r>
                    </a:p>
                  </a:txBody>
                  <a:tcPr anchor="ctr">
                    <a:solidFill>
                      <a:srgbClr val="FFFFFF"/>
                    </a:solidFill>
                  </a:tcPr>
                </a:tc>
                <a:tc>
                  <a:txBody>
                    <a:bodyPr/>
                    <a:lstStyle/>
                    <a:p>
                      <a:pPr algn="r"/>
                      <a:r>
                        <a:rPr sz="1400" b="0">
                          <a:solidFill>
                            <a:srgbClr val="475467"/>
                          </a:solidFill>
                        </a:rPr>
                        <a:t>3.2x</a:t>
                      </a:r>
                    </a:p>
                  </a:txBody>
                  <a:tcPr anchor="ctr">
                    <a:solidFill>
                      <a:srgbClr val="FFFFFF"/>
                    </a:solidFill>
                  </a:tcPr>
                </a:tc>
                <a:tc>
                  <a:txBody>
                    <a:bodyPr/>
                    <a:lstStyle/>
                    <a:p>
                      <a:pPr algn="r"/>
                      <a:r>
                        <a:rPr sz="1400" b="0">
                          <a:solidFill>
                            <a:srgbClr val="112239"/>
                          </a:solidFill>
                        </a:rPr>
                        <a:t>+0.2x</a:t>
                      </a:r>
                    </a:p>
                  </a:txBody>
                  <a:tcPr anchor="ctr">
                    <a:solidFill>
                      <a:srgbClr val="FFFFFF"/>
                    </a:solidFill>
                  </a:tcPr>
                </a:tc>
                <a:tc>
                  <a:txBody>
                    <a:bodyPr/>
                    <a:lstStyle/>
                    <a:p>
                      <a:pPr algn="r"/>
                      <a:r>
                        <a:rPr sz="1400" b="1">
                          <a:solidFill>
                            <a:srgbClr val="B42318"/>
                          </a:solidFill>
                        </a:rPr>
                        <a:t>−0.3x</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r h="434340">
                <a:tc>
                  <a:txBody>
                    <a:bodyPr/>
                    <a:lstStyle/>
                    <a:p>
                      <a:pPr algn="l"/>
                      <a:r>
                        <a:rPr sz="1400" b="1">
                          <a:solidFill>
                            <a:srgbClr val="112239"/>
                          </a:solidFill>
                        </a:rPr>
                        <a:t>Enterprise win rate</a:t>
                      </a:r>
                    </a:p>
                  </a:txBody>
                  <a:tcPr anchor="ctr">
                    <a:solidFill>
                      <a:srgbClr val="F1F5F9"/>
                    </a:solidFill>
                  </a:tcPr>
                </a:tc>
                <a:tc>
                  <a:txBody>
                    <a:bodyPr/>
                    <a:lstStyle/>
                    <a:p>
                      <a:pPr algn="r"/>
                      <a:r>
                        <a:rPr sz="1400" b="0">
                          <a:solidFill>
                            <a:srgbClr val="475467"/>
                          </a:solidFill>
                        </a:rPr>
                        <a:t>24%</a:t>
                      </a:r>
                    </a:p>
                  </a:txBody>
                  <a:tcPr anchor="ctr">
                    <a:solidFill>
                      <a:srgbClr val="F1F5F9"/>
                    </a:solidFill>
                  </a:tcPr>
                </a:tc>
                <a:tc>
                  <a:txBody>
                    <a:bodyPr/>
                    <a:lstStyle/>
                    <a:p>
                      <a:pPr algn="r"/>
                      <a:r>
                        <a:rPr sz="1400" b="1">
                          <a:solidFill>
                            <a:srgbClr val="112239"/>
                          </a:solidFill>
                        </a:rPr>
                        <a:t>28%</a:t>
                      </a:r>
                    </a:p>
                  </a:txBody>
                  <a:tcPr anchor="ctr">
                    <a:solidFill>
                      <a:srgbClr val="F1F5F9"/>
                    </a:solidFill>
                  </a:tcPr>
                </a:tc>
                <a:tc>
                  <a:txBody>
                    <a:bodyPr/>
                    <a:lstStyle/>
                    <a:p>
                      <a:pPr algn="r"/>
                      <a:r>
                        <a:rPr sz="1400" b="0">
                          <a:solidFill>
                            <a:srgbClr val="475467"/>
                          </a:solidFill>
                        </a:rPr>
                        <a:t>30%</a:t>
                      </a:r>
                    </a:p>
                  </a:txBody>
                  <a:tcPr anchor="ctr">
                    <a:solidFill>
                      <a:srgbClr val="F1F5F9"/>
                    </a:solidFill>
                  </a:tcPr>
                </a:tc>
                <a:tc>
                  <a:txBody>
                    <a:bodyPr/>
                    <a:lstStyle/>
                    <a:p>
                      <a:pPr algn="r"/>
                      <a:r>
                        <a:rPr sz="1400" b="0">
                          <a:solidFill>
                            <a:srgbClr val="112239"/>
                          </a:solidFill>
                        </a:rPr>
                        <a:t>+4 pp</a:t>
                      </a:r>
                    </a:p>
                  </a:txBody>
                  <a:tcPr anchor="ctr">
                    <a:solidFill>
                      <a:srgbClr val="F1F5F9"/>
                    </a:solidFill>
                  </a:tcPr>
                </a:tc>
                <a:tc>
                  <a:txBody>
                    <a:bodyPr/>
                    <a:lstStyle/>
                    <a:p>
                      <a:pPr algn="r"/>
                      <a:r>
                        <a:rPr sz="1400" b="1">
                          <a:solidFill>
                            <a:srgbClr val="B42318"/>
                          </a:solidFill>
                        </a:rPr>
                        <a:t>−2 pp</a:t>
                      </a:r>
                    </a:p>
                  </a:txBody>
                  <a:tcPr anchor="ctr">
                    <a:solidFill>
                      <a:srgbClr val="F1F5F9"/>
                    </a:solidFill>
                  </a:tcPr>
                </a:tc>
                <a:tc>
                  <a:txBody>
                    <a:bodyPr/>
                    <a:lstStyle/>
                    <a:p>
                      <a:pPr algn="l"/>
                      <a:r>
                        <a:rPr sz="1400" b="1">
                          <a:solidFill>
                            <a:srgbClr val="B42318"/>
                          </a:solidFill>
                        </a:rPr>
                        <a:t>Short of plan</a:t>
                      </a:r>
                    </a:p>
                  </a:txBody>
                  <a:tcPr anchor="ctr">
                    <a:solidFill>
                      <a:srgbClr val="F1F5F9"/>
                    </a:solidFill>
                  </a:tcPr>
                </a:tc>
              </a:tr>
              <a:tr h="434340">
                <a:tc>
                  <a:txBody>
                    <a:bodyPr/>
                    <a:lstStyle/>
                    <a:p>
                      <a:pPr algn="l"/>
                      <a:r>
                        <a:rPr sz="1400" b="1">
                          <a:solidFill>
                            <a:srgbClr val="112239"/>
                          </a:solidFill>
                        </a:rPr>
                        <a:t>Sales cycle</a:t>
                      </a:r>
                    </a:p>
                  </a:txBody>
                  <a:tcPr anchor="ctr">
                    <a:solidFill>
                      <a:srgbClr val="FFFFFF"/>
                    </a:solidFill>
                  </a:tcPr>
                </a:tc>
                <a:tc>
                  <a:txBody>
                    <a:bodyPr/>
                    <a:lstStyle/>
                    <a:p>
                      <a:pPr algn="r"/>
                      <a:r>
                        <a:rPr sz="1400" b="0">
                          <a:solidFill>
                            <a:srgbClr val="475467"/>
                          </a:solidFill>
                        </a:rPr>
                        <a:t>67 days</a:t>
                      </a:r>
                    </a:p>
                  </a:txBody>
                  <a:tcPr anchor="ctr">
                    <a:solidFill>
                      <a:srgbClr val="FFFFFF"/>
                    </a:solidFill>
                  </a:tcPr>
                </a:tc>
                <a:tc>
                  <a:txBody>
                    <a:bodyPr/>
                    <a:lstStyle/>
                    <a:p>
                      <a:pPr algn="r"/>
                      <a:r>
                        <a:rPr sz="1400" b="1">
                          <a:solidFill>
                            <a:srgbClr val="112239"/>
                          </a:solidFill>
                        </a:rPr>
                        <a:t>63 days</a:t>
                      </a:r>
                    </a:p>
                  </a:txBody>
                  <a:tcPr anchor="ctr">
                    <a:solidFill>
                      <a:srgbClr val="FFFFFF"/>
                    </a:solidFill>
                  </a:tcPr>
                </a:tc>
                <a:tc>
                  <a:txBody>
                    <a:bodyPr/>
                    <a:lstStyle/>
                    <a:p>
                      <a:pPr algn="r"/>
                      <a:r>
                        <a:rPr sz="1400" b="0">
                          <a:solidFill>
                            <a:srgbClr val="475467"/>
                          </a:solidFill>
                        </a:rPr>
                        <a:t>60 days</a:t>
                      </a:r>
                    </a:p>
                  </a:txBody>
                  <a:tcPr anchor="ctr">
                    <a:solidFill>
                      <a:srgbClr val="FFFFFF"/>
                    </a:solidFill>
                  </a:tcPr>
                </a:tc>
                <a:tc>
                  <a:txBody>
                    <a:bodyPr/>
                    <a:lstStyle/>
                    <a:p>
                      <a:pPr algn="r"/>
                      <a:r>
                        <a:rPr sz="1400" b="0">
                          <a:solidFill>
                            <a:srgbClr val="112239"/>
                          </a:solidFill>
                        </a:rPr>
                        <a:t>−4 days</a:t>
                      </a:r>
                    </a:p>
                  </a:txBody>
                  <a:tcPr anchor="ctr">
                    <a:solidFill>
                      <a:srgbClr val="FFFFFF"/>
                    </a:solidFill>
                  </a:tcPr>
                </a:tc>
                <a:tc>
                  <a:txBody>
                    <a:bodyPr/>
                    <a:lstStyle/>
                    <a:p>
                      <a:pPr algn="r"/>
                      <a:r>
                        <a:rPr sz="1400" b="1">
                          <a:solidFill>
                            <a:srgbClr val="B42318"/>
                          </a:solidFill>
                        </a:rPr>
                        <a:t>+3 days</a:t>
                      </a:r>
                    </a:p>
                  </a:txBody>
                  <a:tcPr anchor="ctr">
                    <a:solidFill>
                      <a:srgbClr val="FFFFFF"/>
                    </a:solidFill>
                  </a:tcPr>
                </a:tc>
                <a:tc>
                  <a:txBody>
                    <a:bodyPr/>
                    <a:lstStyle/>
                    <a:p>
                      <a:pPr algn="l"/>
                      <a:r>
                        <a:rPr sz="1400" b="1">
                          <a:solidFill>
                            <a:srgbClr val="B42318"/>
                          </a:solidFill>
                        </a:rPr>
                        <a:t>Short of plan</a:t>
                      </a:r>
                    </a:p>
                  </a:txBody>
                  <a:tcPr anchor="ctr">
                    <a:solidFill>
                      <a:srgbClr val="FFFFFF"/>
                    </a:solidFill>
                  </a:tcPr>
                </a:tc>
              </a:tr>
            </a:tbl>
          </a:graphicData>
        </a:graphic>
      </p:graphicFrame>
      <p:sp>
        <p:nvSpPr>
          <p:cNvPr id="6" name="Table note"/>
          <p:cNvSpPr txBox="1"/>
          <p:nvPr/>
        </p:nvSpPr>
        <p:spPr>
          <a:xfrm>
            <a:off x="548640" y="5486400"/>
            <a:ext cx="11091672" cy="502920"/>
          </a:xfrm>
          <a:prstGeom prst="rect">
            <a:avLst/>
          </a:prstGeom>
          <a:noFill/>
        </p:spPr>
        <p:txBody>
          <a:bodyPr wrap="square" anchor="t" lIns="73152" rIns="73152">
            <a:spAutoFit/>
          </a:bodyPr>
          <a:lstStyle/>
          <a:p>
            <a:pPr>
              <a:spcAft>
                <a:spcPts val="400"/>
              </a:spcAft>
            </a:pPr>
            <a:r>
              <a:rPr sz="1300" b="0">
                <a:solidFill>
                  <a:srgbClr val="475467"/>
                </a:solidFill>
              </a:rPr>
              <a:t>pp = percentage points; x = coverage multiple. For sales cycle, fewer days is ahead of plan. Status is shown in words as well as colour. The win-rate population and the sales-cycle averaging method are not stated.</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all seven metric rows; change and variance are calculated from them.</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Pipeline coverage closed only 40% of its gap to plan, the lowest of the seven metrics</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Coverage closed the least of its gap, which matters for Q3 if it measures future-quarter pipeline.</a:t>
            </a:r>
          </a:p>
        </p:txBody>
      </p:sp>
      <p:graphicFrame>
        <p:nvGraphicFramePr>
          <p:cNvPr id="5" name="Gap closure chart" descr="Bar chart of the share of the Q1-to-plan gap closed in Q2: gross margin 200 percent, revenue 75, New ARR 75, enterprise win rate 67, sales cycle 57, net revenue retention 50, pipeline coverage 40. 100 percent means plan reached."/>
          <p:cNvGraphicFramePr>
            <a:graphicFrameLocks noGrp="1"/>
          </p:cNvGraphicFramePr>
          <p:nvPr/>
        </p:nvGraphicFramePr>
        <p:xfrm>
          <a:off x="548640" y="1920240"/>
          <a:ext cx="7315200" cy="4023360"/>
        </p:xfrm>
        <a:graphic>
          <a:graphicData uri="http://schemas.openxmlformats.org/drawingml/2006/chart">
            <c:chart xmlns:c="http://schemas.openxmlformats.org/drawingml/2006/chart" r:id="rId2"/>
          </a:graphicData>
        </a:graphic>
      </p:graphicFrame>
      <p:sp>
        <p:nvSpPr>
          <p:cNvPr id="6" name="Pipeline facts panel">
            <a:extLst>
              <a:ext uri="{C183D7F6-B498-43B3-948B-1728B52AA6E4}">
                <adec:decorative xmlns:adec="http://schemas.microsoft.com/office/drawing/2017/decorative" val="1"/>
              </a:ext>
            </a:extLst>
          </p:cNvPr>
          <p:cNvSpPr/>
          <p:nvPr/>
        </p:nvSpPr>
        <p:spPr>
          <a:xfrm>
            <a:off x="8138160" y="2011680"/>
            <a:ext cx="3502152" cy="3931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ipeline facts"/>
          <p:cNvSpPr txBox="1"/>
          <p:nvPr/>
        </p:nvSpPr>
        <p:spPr>
          <a:xfrm>
            <a:off x="8275320" y="2084831"/>
            <a:ext cx="3246120" cy="3794760"/>
          </a:xfrm>
          <a:prstGeom prst="rect">
            <a:avLst/>
          </a:prstGeom>
          <a:noFill/>
        </p:spPr>
        <p:txBody>
          <a:bodyPr wrap="square" anchor="t" lIns="73152" rIns="73152">
            <a:spAutoFit/>
          </a:bodyPr>
          <a:lstStyle/>
          <a:p>
            <a:pPr>
              <a:spcAft>
                <a:spcPts val="400"/>
              </a:spcAft>
            </a:pPr>
            <a:r>
              <a:rPr sz="1200" b="1">
                <a:solidFill>
                  <a:srgbClr val="475467"/>
                </a:solidFill>
              </a:rPr>
              <a:t>HOW TO READ</a:t>
            </a:r>
          </a:p>
          <a:p>
            <a:pPr>
              <a:spcAft>
                <a:spcPts val="400"/>
              </a:spcAft>
            </a:pPr>
            <a:r>
              <a:rPr sz="1300" b="0">
                <a:solidFill>
                  <a:srgbClr val="112239"/>
                </a:solidFill>
              </a:rPr>
              <a:t>100% means Q2 reached plan. Gross margin passed plan.</a:t>
            </a:r>
          </a:p>
          <a:p>
            <a:pPr>
              <a:spcAft>
                <a:spcPts val="400"/>
              </a:spcAft>
            </a:pPr>
            <a:r>
              <a:rPr sz="1200" b="1">
                <a:solidFill>
                  <a:srgbClr val="475467"/>
                </a:solidFill>
              </a:rPr>
              <a:t>PIPELINE COVERAGE</a:t>
            </a:r>
          </a:p>
          <a:p>
            <a:pPr>
              <a:spcAft>
                <a:spcPts val="400"/>
              </a:spcAft>
            </a:pPr>
            <a:r>
              <a:rPr sz="1500" b="1">
                <a:solidFill>
                  <a:srgbClr val="112239"/>
                </a:solidFill>
              </a:rPr>
              <a:t>2.9x vs 3.2x plan (90.6% attainment)</a:t>
            </a:r>
          </a:p>
          <a:p>
            <a:pPr>
              <a:spcAft>
                <a:spcPts val="400"/>
              </a:spcAft>
            </a:pPr>
            <a:r>
              <a:rPr sz="1300" b="0">
                <a:solidFill>
                  <a:srgbClr val="112239"/>
                </a:solidFill>
              </a:rPr>
              <a:t>Of the seven metrics, coverage closed the smallest share of its gap. This is a rank, not a forecast; the coverage basis is not stated. If coverage measures pipeline for future quarters, the shortfall matters for Q3. The source does not show how well coverage predicts revenue.</a:t>
            </a:r>
          </a:p>
        </p:txBody>
      </p:sp>
      <p:sp>
        <p:nvSpPr>
          <p:cNvPr id="8"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gap closed = (Q2 actual − Q1 actual) ÷ (Q2 plan − Q1 actual).</a:t>
            </a:r>
          </a:p>
        </p:txBody>
      </p:sp>
      <p:sp>
        <p:nvSpPr>
          <p:cNvPr id="9"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2"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Signing off the Q3 plan now would assume Q3 reaches plan, which the Q2 data does not yet show</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Signing off now is faster but assumes Q3 reaches plan; reviewing first adds an unknown delay.</a:t>
            </a:r>
          </a:p>
        </p:txBody>
      </p:sp>
      <p:graphicFrame>
        <p:nvGraphicFramePr>
          <p:cNvPr id="5" name="Options table" descr="Table comparing two options for the Q3 plan sign-off: option A, sign off now; option B, review the evidence first. Rows: what each assumes, gains, risks, and cost. Both costs are unknown."/>
          <p:cNvGraphicFramePr>
            <a:graphicFrameLocks noGrp="1"/>
          </p:cNvGraphicFramePr>
          <p:nvPr/>
        </p:nvGraphicFramePr>
        <p:xfrm>
          <a:off x="548640" y="2011680"/>
          <a:ext cx="11091672" cy="2880360"/>
        </p:xfrm>
        <a:graphic>
          <a:graphicData uri="http://schemas.openxmlformats.org/drawingml/2006/table">
            <a:tbl>
              <a:tblPr firstRow="1" bandRow="1">
                <a:tableStyleId>{5C22544A-7EE6-4342-B048-85BDC9FD1C3A}</a:tableStyleId>
              </a:tblPr>
              <a:tblGrid>
                <a:gridCol w="1737360"/>
                <a:gridCol w="4681728"/>
                <a:gridCol w="4672584"/>
              </a:tblGrid>
              <a:tr h="576072">
                <a:tc>
                  <a:txBody>
                    <a:bodyPr wrap="square"/>
                    <a:lstStyle/>
                    <a:p>
                      <a:r>
                        <a:rPr sz="1300" b="1">
                          <a:solidFill>
                            <a:srgbClr val="FFFFFF"/>
                          </a:solidFill>
                        </a:rPr>
                        <a:t>Tradeoff</a:t>
                      </a:r>
                    </a:p>
                  </a:txBody>
                  <a:tcPr anchor="ctr">
                    <a:solidFill>
                      <a:srgbClr val="112239"/>
                    </a:solidFill>
                  </a:tcPr>
                </a:tc>
                <a:tc>
                  <a:txBody>
                    <a:bodyPr wrap="square"/>
                    <a:lstStyle/>
                    <a:p>
                      <a:r>
                        <a:rPr sz="1300" b="1">
                          <a:solidFill>
                            <a:srgbClr val="FFFFFF"/>
                          </a:solidFill>
                        </a:rPr>
                        <a:t>Option A: sign off the Q3 plan now</a:t>
                      </a:r>
                    </a:p>
                  </a:txBody>
                  <a:tcPr anchor="ctr">
                    <a:solidFill>
                      <a:srgbClr val="112239"/>
                    </a:solidFill>
                  </a:tcPr>
                </a:tc>
                <a:tc>
                  <a:txBody>
                    <a:bodyPr wrap="square"/>
                    <a:lstStyle/>
                    <a:p>
                      <a:r>
                        <a:rPr sz="1300" b="1">
                          <a:solidFill>
                            <a:srgbClr val="FFFFFF"/>
                          </a:solidFill>
                        </a:rPr>
                        <a:t>Option B: review the evidence first</a:t>
                      </a:r>
                    </a:p>
                  </a:txBody>
                  <a:tcPr anchor="ctr">
                    <a:solidFill>
                      <a:srgbClr val="112239"/>
                    </a:solidFill>
                  </a:tcPr>
                </a:tc>
              </a:tr>
              <a:tr h="576072">
                <a:tc>
                  <a:txBody>
                    <a:bodyPr wrap="square"/>
                    <a:lstStyle/>
                    <a:p>
                      <a:r>
                        <a:rPr sz="1300" b="1">
                          <a:solidFill>
                            <a:srgbClr val="006B66"/>
                          </a:solidFill>
                        </a:rPr>
                        <a:t>Assumes</a:t>
                      </a:r>
                    </a:p>
                  </a:txBody>
                  <a:tcPr anchor="ctr">
                    <a:solidFill>
                      <a:srgbClr val="FFFFFF"/>
                    </a:solidFill>
                  </a:tcPr>
                </a:tc>
                <a:tc>
                  <a:txBody>
                    <a:bodyPr wrap="square"/>
                    <a:lstStyle/>
                    <a:p>
                      <a:r>
                        <a:rPr sz="1300" b="0">
                          <a:solidFill>
                            <a:srgbClr val="112239"/>
                          </a:solidFill>
                        </a:rPr>
                        <a:t>Q3 reaches plan where Q2 fell short, although Q2 reached plan on one metric of seven. The Q3 plan is not in the source.</a:t>
                      </a:r>
                    </a:p>
                  </a:txBody>
                  <a:tcPr anchor="ctr">
                    <a:solidFill>
                      <a:srgbClr val="FFFFFF"/>
                    </a:solidFill>
                  </a:tcPr>
                </a:tc>
                <a:tc>
                  <a:txBody>
                    <a:bodyPr wrap="square"/>
                    <a:lstStyle/>
                    <a:p>
                      <a:r>
                        <a:rPr sz="1300" b="0">
                          <a:solidFill>
                            <a:srgbClr val="112239"/>
                          </a:solidFill>
                        </a:rPr>
                        <a:t>The three evidence requests can be answered before the Q3 plan is signed off.</a:t>
                      </a:r>
                    </a:p>
                  </a:txBody>
                  <a:tcPr anchor="ctr">
                    <a:solidFill>
                      <a:srgbClr val="FFFFFF"/>
                    </a:solidFill>
                  </a:tcPr>
                </a:tc>
              </a:tr>
              <a:tr h="576072">
                <a:tc>
                  <a:txBody>
                    <a:bodyPr wrap="square"/>
                    <a:lstStyle/>
                    <a:p>
                      <a:r>
                        <a:rPr sz="1300" b="1">
                          <a:solidFill>
                            <a:srgbClr val="006B66"/>
                          </a:solidFill>
                        </a:rPr>
                        <a:t>Gains</a:t>
                      </a:r>
                    </a:p>
                  </a:txBody>
                  <a:tcPr anchor="ctr">
                    <a:solidFill>
                      <a:srgbClr val="F1F5F9"/>
                    </a:solidFill>
                  </a:tcPr>
                </a:tc>
                <a:tc>
                  <a:txBody>
                    <a:bodyPr wrap="square"/>
                    <a:lstStyle/>
                    <a:p>
                      <a:r>
                        <a:rPr sz="1300" b="0">
                          <a:solidFill>
                            <a:srgbClr val="112239"/>
                          </a:solidFill>
                        </a:rPr>
                        <a:t>The Q3 plan is set at once, with no wait for new analysis.</a:t>
                      </a:r>
                    </a:p>
                  </a:txBody>
                  <a:tcPr anchor="ctr">
                    <a:solidFill>
                      <a:srgbClr val="F1F5F9"/>
                    </a:solidFill>
                  </a:tcPr>
                </a:tc>
                <a:tc>
                  <a:txBody>
                    <a:bodyPr wrap="square"/>
                    <a:lstStyle/>
                    <a:p>
                      <a:r>
                        <a:rPr sz="1300" b="0">
                          <a:solidFill>
                            <a:srgbClr val="112239"/>
                          </a:solidFill>
                        </a:rPr>
                        <a:t>The Q3 plan is set with pipeline, retention and scenario evidence in hand.</a:t>
                      </a:r>
                    </a:p>
                  </a:txBody>
                  <a:tcPr anchor="ctr">
                    <a:solidFill>
                      <a:srgbClr val="F1F5F9"/>
                    </a:solidFill>
                  </a:tcPr>
                </a:tc>
              </a:tr>
              <a:tr h="576072">
                <a:tc>
                  <a:txBody>
                    <a:bodyPr wrap="square"/>
                    <a:lstStyle/>
                    <a:p>
                      <a:r>
                        <a:rPr sz="1300" b="1">
                          <a:solidFill>
                            <a:srgbClr val="006B66"/>
                          </a:solidFill>
                        </a:rPr>
                        <a:t>Risks</a:t>
                      </a:r>
                    </a:p>
                  </a:txBody>
                  <a:tcPr anchor="ctr">
                    <a:solidFill>
                      <a:srgbClr val="FFFFFF"/>
                    </a:solidFill>
                  </a:tcPr>
                </a:tc>
                <a:tc>
                  <a:txBody>
                    <a:bodyPr wrap="square"/>
                    <a:lstStyle/>
                    <a:p>
                      <a:r>
                        <a:rPr sz="1300" b="0">
                          <a:solidFill>
                            <a:srgbClr val="112239"/>
                          </a:solidFill>
                        </a:rPr>
                        <a:t>Another plan miss if the Q2 shortfalls continue: coverage and retention are both short of plan.</a:t>
                      </a:r>
                    </a:p>
                  </a:txBody>
                  <a:tcPr anchor="ctr">
                    <a:solidFill>
                      <a:srgbClr val="FFFFFF"/>
                    </a:solidFill>
                  </a:tcPr>
                </a:tc>
                <a:tc>
                  <a:txBody>
                    <a:bodyPr wrap="square"/>
                    <a:lstStyle/>
                    <a:p>
                      <a:r>
                        <a:rPr sz="1300" b="0">
                          <a:solidFill>
                            <a:srgbClr val="112239"/>
                          </a:solidFill>
                        </a:rPr>
                        <a:t>Sign-off waits for three outputs, and the source sets no date for them.</a:t>
                      </a:r>
                    </a:p>
                  </a:txBody>
                  <a:tcPr anchor="ctr">
                    <a:solidFill>
                      <a:srgbClr val="FFFFFF"/>
                    </a:solidFill>
                  </a:tcPr>
                </a:tc>
              </a:tr>
              <a:tr h="576072">
                <a:tc>
                  <a:txBody>
                    <a:bodyPr wrap="square"/>
                    <a:lstStyle/>
                    <a:p>
                      <a:r>
                        <a:rPr sz="1300" b="1">
                          <a:solidFill>
                            <a:srgbClr val="006B66"/>
                          </a:solidFill>
                        </a:rPr>
                        <a:t>Cost</a:t>
                      </a:r>
                    </a:p>
                  </a:txBody>
                  <a:tcPr anchor="ctr">
                    <a:solidFill>
                      <a:srgbClr val="F1F5F9"/>
                    </a:solidFill>
                  </a:tcPr>
                </a:tc>
                <a:tc>
                  <a:txBody>
                    <a:bodyPr wrap="square"/>
                    <a:lstStyle/>
                    <a:p>
                      <a:r>
                        <a:rPr sz="1300" b="0">
                          <a:solidFill>
                            <a:srgbClr val="112239"/>
                          </a:solidFill>
                        </a:rPr>
                        <a:t>Unknown. The source holds no cost data.</a:t>
                      </a:r>
                    </a:p>
                  </a:txBody>
                  <a:tcPr anchor="ctr">
                    <a:solidFill>
                      <a:srgbClr val="F1F5F9"/>
                    </a:solidFill>
                  </a:tcPr>
                </a:tc>
                <a:tc>
                  <a:txBody>
                    <a:bodyPr wrap="square"/>
                    <a:lstStyle/>
                    <a:p>
                      <a:r>
                        <a:rPr sz="1300" b="0">
                          <a:solidFill>
                            <a:srgbClr val="112239"/>
                          </a:solidFill>
                        </a:rPr>
                        <a:t>Unknown. The source holds no cost or effort data for the requests.</a:t>
                      </a:r>
                    </a:p>
                  </a:txBody>
                  <a:tcPr anchor="ctr">
                    <a:solidFill>
                      <a:srgbClr val="F1F5F9"/>
                    </a:solidFill>
                  </a:tcPr>
                </a:tc>
              </a:tr>
            </a:tbl>
          </a:graphicData>
        </a:graphic>
      </p:graphicFrame>
      <p:sp>
        <p:nvSpPr>
          <p:cNvPr id="6" name="Recommendation"/>
          <p:cNvSpPr txBox="1"/>
          <p:nvPr/>
        </p:nvSpPr>
        <p:spPr>
          <a:xfrm>
            <a:off x="548640" y="5029200"/>
            <a:ext cx="11091672" cy="91440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RECOMMENDATION: </a:t>
            </a:r>
            <a:r>
              <a:rPr sz="1600" b="1">
                <a:solidFill>
                  <a:srgbClr val="112239"/>
                </a:solidFill>
              </a:rPr>
              <a:t>review the evidence first (option B), then sign off the Q3 plan.</a:t>
            </a:r>
          </a:p>
          <a:p>
            <a:pPr>
              <a:spcAft>
                <a:spcPts val="400"/>
              </a:spcAft>
            </a:pPr>
            <a:r>
              <a:rPr sz="1300" b="0">
                <a:solidFill>
                  <a:srgbClr val="475467"/>
                </a:solidFill>
              </a:rPr>
              <a:t>The options and tradeoffs are a RECOMMENDATION drawn from the Q2 evidence on the earlier slides, not a verified finding. Neither option has a cost estimate, because the source holds no cost or effort data.</a:t>
            </a:r>
          </a:p>
        </p:txBody>
      </p:sp>
      <p:sp>
        <p:nvSpPr>
          <p:cNvPr id="7"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Q2 2026 evidence on the revenue, gross profit, scorecard and pipeline slides; the source holds no cost data.</a:t>
            </a:r>
          </a:p>
        </p:txBody>
      </p:sp>
      <p:sp>
        <p:nvSpPr>
          <p:cNvPr id="8"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1"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Before Q3 plan sign-off, leadership needs three pieces of evidence</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Three functions each bring one piece of evidence, and the executive team assigns the work now.</a:t>
            </a:r>
          </a:p>
        </p:txBody>
      </p:sp>
      <p:sp>
        <p:nvSpPr>
          <p:cNvPr id="5" name="Decision request"/>
          <p:cNvSpPr txBox="1"/>
          <p:nvPr/>
        </p:nvSpPr>
        <p:spPr>
          <a:xfrm>
            <a:off x="548640" y="2011680"/>
            <a:ext cx="11091672" cy="777240"/>
          </a:xfrm>
          <a:prstGeom prst="rect">
            <a:avLst/>
          </a:prstGeom>
          <a:solidFill>
            <a:srgbClr val="F1F5F9"/>
          </a:solidFill>
        </p:spPr>
        <p:txBody>
          <a:bodyPr wrap="square" anchor="t" lIns="73152" rIns="73152">
            <a:spAutoFit/>
          </a:bodyPr>
          <a:lstStyle/>
          <a:p>
            <a:pPr>
              <a:spcAft>
                <a:spcPts val="400"/>
              </a:spcAft>
            </a:pPr>
            <a:r>
              <a:rPr sz="1600" b="1">
                <a:solidFill>
                  <a:srgbClr val="006B66"/>
                </a:solidFill>
              </a:rPr>
              <a:t>Decision requested: </a:t>
            </a:r>
            <a:r>
              <a:rPr sz="1600" b="1">
                <a:solidFill>
                  <a:srgbClr val="112239"/>
                </a:solidFill>
              </a:rPr>
              <a:t>agree that Q3 plan recovery is not assumed until these three outputs are reviewed.</a:t>
            </a:r>
          </a:p>
          <a:p>
            <a:pPr>
              <a:spcAft>
                <a:spcPts val="400"/>
              </a:spcAft>
            </a:pPr>
            <a:r>
              <a:rPr sz="1400" b="0">
                <a:solidFill>
                  <a:srgbClr val="475467"/>
                </a:solidFill>
              </a:rPr>
              <a:t>Next action: the executive team assigns the three requests below to their functions.</a:t>
            </a:r>
          </a:p>
        </p:txBody>
      </p:sp>
      <p:graphicFrame>
        <p:nvGraphicFramePr>
          <p:cNvPr id="6" name="Next actions table" descr="Table of next actions per function: Sales Operations pipeline audit, Customer Success retention bridge, Finance Q3 scenario range, and the executive team assigning them, each with its reason and the Q2 trigger."/>
          <p:cNvGraphicFramePr>
            <a:graphicFrameLocks noGrp="1"/>
          </p:cNvGraphicFramePr>
          <p:nvPr/>
        </p:nvGraphicFramePr>
        <p:xfrm>
          <a:off x="548640" y="2926080"/>
          <a:ext cx="11091672" cy="2468880"/>
        </p:xfrm>
        <a:graphic>
          <a:graphicData uri="http://schemas.openxmlformats.org/drawingml/2006/table">
            <a:tbl>
              <a:tblPr firstRow="1" bandRow="1">
                <a:tableStyleId>{5C22544A-7EE6-4342-B048-85BDC9FD1C3A}</a:tableStyleId>
              </a:tblPr>
              <a:tblGrid>
                <a:gridCol w="2148840"/>
                <a:gridCol w="3429000"/>
                <a:gridCol w="3108960"/>
                <a:gridCol w="2404872"/>
              </a:tblGrid>
              <a:tr h="493776">
                <a:tc>
                  <a:txBody>
                    <a:bodyPr wrap="square"/>
                    <a:lstStyle/>
                    <a:p>
                      <a:r>
                        <a:rPr sz="1300" b="1">
                          <a:solidFill>
                            <a:srgbClr val="FFFFFF"/>
                          </a:solidFill>
                        </a:rPr>
                        <a:t>Owner (function)</a:t>
                      </a:r>
                    </a:p>
                  </a:txBody>
                  <a:tcPr anchor="ctr">
                    <a:solidFill>
                      <a:srgbClr val="112239"/>
                    </a:solidFill>
                  </a:tcPr>
                </a:tc>
                <a:tc>
                  <a:txBody>
                    <a:bodyPr wrap="square"/>
                    <a:lstStyle/>
                    <a:p>
                      <a:r>
                        <a:rPr sz="1300" b="1">
                          <a:solidFill>
                            <a:srgbClr val="FFFFFF"/>
                          </a:solidFill>
                        </a:rPr>
                        <a:t>Next action</a:t>
                      </a:r>
                    </a:p>
                  </a:txBody>
                  <a:tcPr anchor="ctr">
                    <a:solidFill>
                      <a:srgbClr val="112239"/>
                    </a:solidFill>
                  </a:tcPr>
                </a:tc>
                <a:tc>
                  <a:txBody>
                    <a:bodyPr wrap="square"/>
                    <a:lstStyle/>
                    <a:p>
                      <a:r>
                        <a:rPr sz="1300" b="1">
                          <a:solidFill>
                            <a:srgbClr val="FFFFFF"/>
                          </a:solidFill>
                        </a:rPr>
                        <a:t>Why it matters</a:t>
                      </a:r>
                    </a:p>
                  </a:txBody>
                  <a:tcPr anchor="ctr">
                    <a:solidFill>
                      <a:srgbClr val="112239"/>
                    </a:solidFill>
                  </a:tcPr>
                </a:tc>
                <a:tc>
                  <a:txBody>
                    <a:bodyPr wrap="square"/>
                    <a:lstStyle/>
                    <a:p>
                      <a:r>
                        <a:rPr sz="1300" b="1">
                          <a:solidFill>
                            <a:srgbClr val="FFFFFF"/>
                          </a:solidFill>
                        </a:rPr>
                        <a:t>Trigger in Q2 data</a:t>
                      </a:r>
                    </a:p>
                  </a:txBody>
                  <a:tcPr anchor="ctr">
                    <a:solidFill>
                      <a:srgbClr val="112239"/>
                    </a:solidFill>
                  </a:tcPr>
                </a:tc>
              </a:tr>
              <a:tr h="493776">
                <a:tc>
                  <a:txBody>
                    <a:bodyPr wrap="square"/>
                    <a:lstStyle/>
                    <a:p>
                      <a:r>
                        <a:rPr sz="1300" b="1">
                          <a:solidFill>
                            <a:srgbClr val="006B66"/>
                          </a:solidFill>
                        </a:rPr>
                        <a:t>Sales Operations</a:t>
                      </a:r>
                    </a:p>
                  </a:txBody>
                  <a:tcPr anchor="ctr">
                    <a:solidFill>
                      <a:srgbClr val="FFFFFF"/>
                    </a:solidFill>
                  </a:tcPr>
                </a:tc>
                <a:tc>
                  <a:txBody>
                    <a:bodyPr wrap="square"/>
                    <a:lstStyle/>
                    <a:p>
                      <a:r>
                        <a:rPr sz="1300" b="0">
                          <a:solidFill>
                            <a:srgbClr val="112239"/>
                          </a:solidFill>
                        </a:rPr>
                        <a:t>Run a pipeline audit by stage, age, and segment</a:t>
                      </a:r>
                    </a:p>
                  </a:txBody>
                  <a:tcPr anchor="ctr">
                    <a:solidFill>
                      <a:srgbClr val="FFFFFF"/>
                    </a:solidFill>
                  </a:tcPr>
                </a:tc>
                <a:tc>
                  <a:txBody>
                    <a:bodyPr wrap="square"/>
                    <a:lstStyle/>
                    <a:p>
                      <a:r>
                        <a:rPr sz="1300" b="0">
                          <a:solidFill>
                            <a:srgbClr val="112239"/>
                          </a:solidFill>
                        </a:rPr>
                        <a:t>Shows whether coverage can support the Q3 plan.</a:t>
                      </a:r>
                    </a:p>
                  </a:txBody>
                  <a:tcPr anchor="ctr">
                    <a:solidFill>
                      <a:srgbClr val="FFFFFF"/>
                    </a:solidFill>
                  </a:tcPr>
                </a:tc>
                <a:tc>
                  <a:txBody>
                    <a:bodyPr wrap="square"/>
                    <a:lstStyle/>
                    <a:p>
                      <a:r>
                        <a:rPr sz="1300" b="0">
                          <a:solidFill>
                            <a:srgbClr val="112239"/>
                          </a:solidFill>
                        </a:rPr>
                        <a:t>Pipeline coverage short of plan</a:t>
                      </a:r>
                    </a:p>
                  </a:txBody>
                  <a:tcPr anchor="ctr">
                    <a:solidFill>
                      <a:srgbClr val="FFFFFF"/>
                    </a:solidFill>
                  </a:tcPr>
                </a:tc>
              </a:tr>
              <a:tr h="493776">
                <a:tc>
                  <a:txBody>
                    <a:bodyPr wrap="square"/>
                    <a:lstStyle/>
                    <a:p>
                      <a:r>
                        <a:rPr sz="1300" b="1">
                          <a:solidFill>
                            <a:srgbClr val="006B66"/>
                          </a:solidFill>
                        </a:rPr>
                        <a:t>Customer Success</a:t>
                      </a:r>
                    </a:p>
                  </a:txBody>
                  <a:tcPr anchor="ctr">
                    <a:solidFill>
                      <a:srgbClr val="F1F5F9"/>
                    </a:solidFill>
                  </a:tcPr>
                </a:tc>
                <a:tc>
                  <a:txBody>
                    <a:bodyPr wrap="square"/>
                    <a:lstStyle/>
                    <a:p>
                      <a:r>
                        <a:rPr sz="1300" b="0">
                          <a:solidFill>
                            <a:srgbClr val="112239"/>
                          </a:solidFill>
                        </a:rPr>
                        <a:t>Build a retention bridge by cohort: expansion, contraction, churn</a:t>
                      </a:r>
                    </a:p>
                  </a:txBody>
                  <a:tcPr anchor="ctr">
                    <a:solidFill>
                      <a:srgbClr val="F1F5F9"/>
                    </a:solidFill>
                  </a:tcPr>
                </a:tc>
                <a:tc>
                  <a:txBody>
                    <a:bodyPr wrap="square"/>
                    <a:lstStyle/>
                    <a:p>
                      <a:r>
                        <a:rPr sz="1300" b="0">
                          <a:solidFill>
                            <a:srgbClr val="112239"/>
                          </a:solidFill>
                        </a:rPr>
                        <a:t>Shows how much of the retention change is expansion, contraction and churn.</a:t>
                      </a:r>
                    </a:p>
                  </a:txBody>
                  <a:tcPr anchor="ctr">
                    <a:solidFill>
                      <a:srgbClr val="F1F5F9"/>
                    </a:solidFill>
                  </a:tcPr>
                </a:tc>
                <a:tc>
                  <a:txBody>
                    <a:bodyPr wrap="square"/>
                    <a:lstStyle/>
                    <a:p>
                      <a:r>
                        <a:rPr sz="1300" b="0">
                          <a:solidFill>
                            <a:srgbClr val="112239"/>
                          </a:solidFill>
                        </a:rPr>
                        <a:t>Net revenue retention short of plan</a:t>
                      </a:r>
                    </a:p>
                  </a:txBody>
                  <a:tcPr anchor="ctr">
                    <a:solidFill>
                      <a:srgbClr val="F1F5F9"/>
                    </a:solidFill>
                  </a:tcPr>
                </a:tc>
              </a:tr>
              <a:tr h="493776">
                <a:tc>
                  <a:txBody>
                    <a:bodyPr wrap="square"/>
                    <a:lstStyle/>
                    <a:p>
                      <a:r>
                        <a:rPr sz="1300" b="1">
                          <a:solidFill>
                            <a:srgbClr val="006B66"/>
                          </a:solidFill>
                        </a:rPr>
                        <a:t>Finance</a:t>
                      </a:r>
                    </a:p>
                  </a:txBody>
                  <a:tcPr anchor="ctr">
                    <a:solidFill>
                      <a:srgbClr val="FFFFFF"/>
                    </a:solidFill>
                  </a:tcPr>
                </a:tc>
                <a:tc>
                  <a:txBody>
                    <a:bodyPr wrap="square"/>
                    <a:lstStyle/>
                    <a:p>
                      <a:r>
                        <a:rPr sz="1300" b="0">
                          <a:solidFill>
                            <a:srgbClr val="112239"/>
                          </a:solidFill>
                        </a:rPr>
                        <a:t>Build a Q3 scenario range from Q2 actual gap closure</a:t>
                      </a:r>
                    </a:p>
                  </a:txBody>
                  <a:tcPr anchor="ctr">
                    <a:solidFill>
                      <a:srgbClr val="FFFFFF"/>
                    </a:solidFill>
                  </a:tcPr>
                </a:tc>
                <a:tc>
                  <a:txBody>
                    <a:bodyPr wrap="square"/>
                    <a:lstStyle/>
                    <a:p>
                      <a:r>
                        <a:rPr sz="1300" b="0">
                          <a:solidFill>
                            <a:srgbClr val="112239"/>
                          </a:solidFill>
                        </a:rPr>
                        <a:t>Gives a first Q3 range, based on one quarter (Q2) of gap closure.</a:t>
                      </a:r>
                    </a:p>
                  </a:txBody>
                  <a:tcPr anchor="ctr">
                    <a:solidFill>
                      <a:srgbClr val="FFFFFF"/>
                    </a:solidFill>
                  </a:tcPr>
                </a:tc>
                <a:tc>
                  <a:txBody>
                    <a:bodyPr wrap="square"/>
                    <a:lstStyle/>
                    <a:p>
                      <a:r>
                        <a:rPr sz="1300" b="0">
                          <a:solidFill>
                            <a:srgbClr val="112239"/>
                          </a:solidFill>
                        </a:rPr>
                        <a:t>Revenue growth slower than plan</a:t>
                      </a:r>
                    </a:p>
                  </a:txBody>
                  <a:tcPr anchor="ctr">
                    <a:solidFill>
                      <a:srgbClr val="FFFFFF"/>
                    </a:solidFill>
                  </a:tcPr>
                </a:tc>
              </a:tr>
              <a:tr h="493776">
                <a:tc>
                  <a:txBody>
                    <a:bodyPr wrap="square"/>
                    <a:lstStyle/>
                    <a:p>
                      <a:r>
                        <a:rPr sz="1300" b="1">
                          <a:solidFill>
                            <a:srgbClr val="006B66"/>
                          </a:solidFill>
                        </a:rPr>
                        <a:t>CEO and executive team</a:t>
                      </a:r>
                    </a:p>
                  </a:txBody>
                  <a:tcPr anchor="ctr">
                    <a:solidFill>
                      <a:srgbClr val="F1F5F9"/>
                    </a:solidFill>
                  </a:tcPr>
                </a:tc>
                <a:tc>
                  <a:txBody>
                    <a:bodyPr wrap="square"/>
                    <a:lstStyle/>
                    <a:p>
                      <a:r>
                        <a:rPr sz="1300" b="0">
                          <a:solidFill>
                            <a:srgbClr val="112239"/>
                          </a:solidFill>
                        </a:rPr>
                        <a:t>Assign the three requests and agree when the outputs are reviewed</a:t>
                      </a:r>
                    </a:p>
                  </a:txBody>
                  <a:tcPr anchor="ctr">
                    <a:solidFill>
                      <a:srgbClr val="F1F5F9"/>
                    </a:solidFill>
                  </a:tcPr>
                </a:tc>
                <a:tc>
                  <a:txBody>
                    <a:bodyPr wrap="square"/>
                    <a:lstStyle/>
                    <a:p>
                      <a:r>
                        <a:rPr sz="1300" b="0">
                          <a:solidFill>
                            <a:srgbClr val="112239"/>
                          </a:solidFill>
                        </a:rPr>
                        <a:t>Turns the decision into owned work.</a:t>
                      </a:r>
                    </a:p>
                  </a:txBody>
                  <a:tcPr anchor="ctr">
                    <a:solidFill>
                      <a:srgbClr val="F1F5F9"/>
                    </a:solidFill>
                  </a:tcPr>
                </a:tc>
                <a:tc>
                  <a:txBody>
                    <a:bodyPr wrap="square"/>
                    <a:lstStyle/>
                    <a:p>
                      <a:r>
                        <a:rPr sz="1300" b="0">
                          <a:solidFill>
                            <a:srgbClr val="112239"/>
                          </a:solidFill>
                        </a:rPr>
                        <a:t>The decision requested above</a:t>
                      </a:r>
                    </a:p>
                  </a:txBody>
                  <a:tcPr anchor="ctr">
                    <a:solidFill>
                      <a:srgbClr val="F1F5F9"/>
                    </a:solidFill>
                  </a:tcPr>
                </a:tc>
              </a:tr>
            </a:tbl>
          </a:graphicData>
        </a:graphic>
      </p:graphicFrame>
      <p:sp>
        <p:nvSpPr>
          <p:cNvPr id="7" name="Proposal note"/>
          <p:cNvSpPr txBox="1"/>
          <p:nvPr/>
        </p:nvSpPr>
        <p:spPr>
          <a:xfrm>
            <a:off x="548640" y="5486400"/>
            <a:ext cx="11091672" cy="475488"/>
          </a:xfrm>
          <a:prstGeom prst="rect">
            <a:avLst/>
          </a:prstGeom>
          <a:noFill/>
        </p:spPr>
        <p:txBody>
          <a:bodyPr wrap="square" anchor="t" lIns="73152" rIns="73152">
            <a:spAutoFit/>
          </a:bodyPr>
          <a:lstStyle/>
          <a:p>
            <a:pPr>
              <a:spcAft>
                <a:spcPts val="400"/>
              </a:spcAft>
            </a:pPr>
            <a:r>
              <a:rPr sz="1300" b="0">
                <a:solidFill>
                  <a:srgbClr val="475467"/>
                </a:solidFill>
              </a:rPr>
              <a:t>These are proposals for a fictional company. They are not commitments or verified root causes. Owners are functions, not named people, and the source sets no dates.</a:t>
            </a:r>
          </a:p>
        </p:txBody>
      </p:sp>
      <p:sp>
        <p:nvSpPr>
          <p:cNvPr id="8"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Q2 2026 findings on pipeline coverage, retention and revenue growth; the source names no people and sets no dates.</a:t>
            </a:r>
          </a:p>
        </p:txBody>
      </p:sp>
      <p:sp>
        <p:nvSpPr>
          <p:cNvPr id="9"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2"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548640" y="502920"/>
            <a:ext cx="11064240" cy="1024128"/>
          </a:xfrm>
        </p:spPr>
        <p:txBody>
          <a:bodyPr wrap="square" anchor="t" lIns="73152"/>
          <a:lstStyle/>
          <a:p>
            <a:pPr algn="l"/>
            <a:r>
              <a:rPr sz="2600" b="1">
                <a:solidFill>
                  <a:srgbClr val="112239"/>
                </a:solidFill>
                <a:latin typeface="Calibri"/>
              </a:rPr>
              <a:t>These figures show Q2 results against plan but cannot show causes, a forecast or a business case</a:t>
            </a:r>
          </a:p>
        </p:txBody>
      </p:sp>
      <p:sp>
        <p:nvSpPr>
          <p:cNvPr id="3" name="Header"/>
          <p:cNvSpPr txBox="1"/>
          <p:nvPr/>
        </p:nvSpPr>
        <p:spPr>
          <a:xfrm>
            <a:off x="548640" y="201168"/>
            <a:ext cx="8229600" cy="292608"/>
          </a:xfrm>
          <a:prstGeom prst="rect">
            <a:avLst/>
          </a:prstGeom>
          <a:noFill/>
        </p:spPr>
        <p:txBody>
          <a:bodyPr wrap="square" anchor="t" lIns="73152" rIns="73152">
            <a:spAutoFit/>
          </a:bodyPr>
          <a:lstStyle/>
          <a:p>
            <a:pPr>
              <a:spcAft>
                <a:spcPts val="400"/>
              </a:spcAft>
            </a:pPr>
            <a:r>
              <a:rPr sz="1100" b="1">
                <a:solidFill>
                  <a:srgbClr val="006B66"/>
                </a:solidFill>
              </a:rPr>
              <a:t>NORTHSTAR CLOUD  /  Q2 2026 BUSINESS REVIEW</a:t>
            </a:r>
          </a:p>
        </p:txBody>
      </p:sp>
      <p:sp>
        <p:nvSpPr>
          <p:cNvPr id="4" name="So what"/>
          <p:cNvSpPr txBox="1"/>
          <p:nvPr/>
        </p:nvSpPr>
        <p:spPr>
          <a:xfrm>
            <a:off x="548640" y="1536192"/>
            <a:ext cx="11091672" cy="365760"/>
          </a:xfrm>
          <a:prstGeom prst="rect">
            <a:avLst/>
          </a:prstGeom>
          <a:noFill/>
        </p:spPr>
        <p:txBody>
          <a:bodyPr wrap="square" anchor="t" lIns="73152" rIns="73152">
            <a:spAutoFit/>
          </a:bodyPr>
          <a:lstStyle/>
          <a:p>
            <a:pPr>
              <a:spcAft>
                <a:spcPts val="400"/>
              </a:spcAft>
            </a:pPr>
            <a:r>
              <a:rPr sz="1400" b="1">
                <a:solidFill>
                  <a:srgbClr val="006B66"/>
                </a:solidFill>
              </a:rPr>
              <a:t>Read every figure with the limits below; four narrative steps are left out for lack of evidence.</a:t>
            </a:r>
          </a:p>
        </p:txBody>
      </p:sp>
      <p:sp>
        <p:nvSpPr>
          <p:cNvPr id="5" name="Source panel">
            <a:extLst>
              <a:ext uri="{C183D7F6-B498-43B3-948B-1728B52AA6E4}">
                <adec:decorative xmlns:adec="http://schemas.microsoft.com/office/drawing/2017/decorative" val="1"/>
              </a:ext>
            </a:extLst>
          </p:cNvPr>
          <p:cNvSpPr/>
          <p:nvPr/>
        </p:nvSpPr>
        <p:spPr>
          <a:xfrm>
            <a:off x="548640" y="2011680"/>
            <a:ext cx="5394960" cy="31089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urce, conventions and limitations"/>
          <p:cNvSpPr txBox="1"/>
          <p:nvPr/>
        </p:nvSpPr>
        <p:spPr>
          <a:xfrm>
            <a:off x="685800" y="2066544"/>
            <a:ext cx="5120640" cy="2999232"/>
          </a:xfrm>
          <a:prstGeom prst="rect">
            <a:avLst/>
          </a:prstGeom>
          <a:noFill/>
        </p:spPr>
        <p:txBody>
          <a:bodyPr wrap="square" anchor="t" lIns="73152" rIns="73152">
            <a:spAutoFit/>
          </a:bodyPr>
          <a:lstStyle/>
          <a:p>
            <a:pPr>
              <a:spcAft>
                <a:spcPts val="200"/>
              </a:spcAft>
            </a:pPr>
            <a:r>
              <a:rPr sz="1200" b="1">
                <a:solidFill>
                  <a:srgbClr val="475467"/>
                </a:solidFill>
              </a:rPr>
              <a:t>SOURCE AND EVIDENCE TRAIL</a:t>
            </a:r>
          </a:p>
          <a:p>
            <a:pPr>
              <a:spcAft>
                <a:spcPts val="200"/>
              </a:spcAft>
            </a:pPr>
            <a:r>
              <a:rPr sz="1200" b="0">
                <a:solidFill>
                  <a:srgbClr val="112239"/>
                </a:solidFill>
              </a:rPr>
              <a:t>One synthetic CSV: seven metrics, Q1 2026 actual, Q2 2026 actual, Q2 2026 plan. Every slide figure traces to a source cell or a calculation in the claims register. Evidence trail: source CSV, data validation, business assessment, claims register, this deck. The deck and its claims register are in the public portfolio repository; the source data and the validation workings are private.</a:t>
            </a:r>
          </a:p>
          <a:p>
            <a:pPr>
              <a:spcAft>
                <a:spcPts val="200"/>
              </a:spcAft>
            </a:pPr>
            <a:r>
              <a:rPr sz="1200" b="1">
                <a:solidFill>
                  <a:srgbClr val="475467"/>
                </a:solidFill>
              </a:rPr>
              <a:t>CONVENTIONS</a:t>
            </a:r>
          </a:p>
          <a:p>
            <a:pPr>
              <a:spcAft>
                <a:spcPts val="200"/>
              </a:spcAft>
            </a:pPr>
            <a:r>
              <a:rPr sz="1200" b="0">
                <a:solidFill>
                  <a:srgbClr val="112239"/>
                </a:solidFill>
              </a:rPr>
              <a:t>Growth and attainment of dollar metrics are percentages (plan, pp and x: see the glossary). Value labels are rounded to the precision shown; gap-closed labels to whole percents. Bridge steps look thin because the axis starts at zero.</a:t>
            </a:r>
          </a:p>
          <a:p>
            <a:pPr>
              <a:spcAft>
                <a:spcPts val="200"/>
              </a:spcAft>
            </a:pPr>
            <a:r>
              <a:rPr sz="1200" b="1">
                <a:solidFill>
                  <a:srgbClr val="475467"/>
                </a:solidFill>
              </a:rPr>
              <a:t>LIMITATIONS</a:t>
            </a:r>
          </a:p>
          <a:p>
            <a:pPr>
              <a:spcAft>
                <a:spcPts val="200"/>
              </a:spcAft>
            </a:pPr>
            <a:r>
              <a:rPr sz="1200" b="0">
                <a:solidFill>
                  <a:srgbClr val="112239"/>
                </a:solidFill>
              </a:rPr>
              <a:t>No segment, product or customer data, so no driver or segment conclusion. Two actual quarters and one plan period, so no trend or forecast-accuracy view. Retention cohort, pipeline basis and gross-margin basis are not defined. Implied gross profit is a derived figure that needs an assumption.</a:t>
            </a:r>
          </a:p>
        </p:txBody>
      </p:sp>
      <p:sp>
        <p:nvSpPr>
          <p:cNvPr id="7" name="Omitted steps heading"/>
          <p:cNvSpPr txBox="1"/>
          <p:nvPr/>
        </p:nvSpPr>
        <p:spPr>
          <a:xfrm>
            <a:off x="6245352" y="1965960"/>
            <a:ext cx="5394960" cy="310896"/>
          </a:xfrm>
          <a:prstGeom prst="rect">
            <a:avLst/>
          </a:prstGeom>
          <a:noFill/>
        </p:spPr>
        <p:txBody>
          <a:bodyPr wrap="square" anchor="t" lIns="73152" rIns="73152">
            <a:spAutoFit/>
          </a:bodyPr>
          <a:lstStyle/>
          <a:p>
            <a:pPr>
              <a:spcAft>
                <a:spcPts val="400"/>
              </a:spcAft>
            </a:pPr>
            <a:r>
              <a:rPr sz="1200" b="1">
                <a:solidFill>
                  <a:srgbClr val="475467"/>
                </a:solidFill>
              </a:rPr>
              <a:t>OMITTED NARRATIVE STEPS AND WHY</a:t>
            </a:r>
          </a:p>
        </p:txBody>
      </p:sp>
      <p:graphicFrame>
        <p:nvGraphicFramePr>
          <p:cNvPr id="8" name="Omitted steps table" descr="Table of four omitted narrative steps with the reason for each: cost of inaction, market insight, proof, business case. Each lacks evidence in the source."/>
          <p:cNvGraphicFramePr>
            <a:graphicFrameLocks noGrp="1"/>
          </p:cNvGraphicFramePr>
          <p:nvPr/>
        </p:nvGraphicFramePr>
        <p:xfrm>
          <a:off x="6245352" y="2286000"/>
          <a:ext cx="5394959" cy="2057400"/>
        </p:xfrm>
        <a:graphic>
          <a:graphicData uri="http://schemas.openxmlformats.org/drawingml/2006/table">
            <a:tbl>
              <a:tblPr firstRow="1" bandRow="1">
                <a:tableStyleId>{5C22544A-7EE6-4342-B048-85BDC9FD1C3A}</a:tableStyleId>
              </a:tblPr>
              <a:tblGrid>
                <a:gridCol w="1417320"/>
                <a:gridCol w="3977639"/>
              </a:tblGrid>
              <a:tr h="411480">
                <a:tc>
                  <a:txBody>
                    <a:bodyPr wrap="square"/>
                    <a:lstStyle/>
                    <a:p>
                      <a:r>
                        <a:rPr sz="1200" b="1">
                          <a:solidFill>
                            <a:srgbClr val="FFFFFF"/>
                          </a:solidFill>
                        </a:rPr>
                        <a:t>Step</a:t>
                      </a:r>
                    </a:p>
                  </a:txBody>
                  <a:tcPr anchor="ctr">
                    <a:solidFill>
                      <a:srgbClr val="112239"/>
                    </a:solidFill>
                  </a:tcPr>
                </a:tc>
                <a:tc>
                  <a:txBody>
                    <a:bodyPr wrap="square"/>
                    <a:lstStyle/>
                    <a:p>
                      <a:r>
                        <a:rPr sz="1200" b="1">
                          <a:solidFill>
                            <a:srgbClr val="FFFFFF"/>
                          </a:solidFill>
                        </a:rPr>
                        <a:t>Why it is omitted</a:t>
                      </a:r>
                    </a:p>
                  </a:txBody>
                  <a:tcPr anchor="ctr">
                    <a:solidFill>
                      <a:srgbClr val="112239"/>
                    </a:solidFill>
                  </a:tcPr>
                </a:tc>
              </a:tr>
              <a:tr h="411480">
                <a:tc>
                  <a:txBody>
                    <a:bodyPr wrap="square"/>
                    <a:lstStyle/>
                    <a:p>
                      <a:r>
                        <a:rPr sz="1200" b="1">
                          <a:solidFill>
                            <a:srgbClr val="006B66"/>
                          </a:solidFill>
                        </a:rPr>
                        <a:t>Cost of inaction</a:t>
                      </a:r>
                    </a:p>
                  </a:txBody>
                  <a:tcPr anchor="ctr">
                    <a:solidFill>
                      <a:srgbClr val="FFFFFF"/>
                    </a:solidFill>
                  </a:tcPr>
                </a:tc>
                <a:tc>
                  <a:txBody>
                    <a:bodyPr wrap="square"/>
                    <a:lstStyle/>
                    <a:p>
                      <a:r>
                        <a:rPr sz="1200" b="0">
                          <a:solidFill>
                            <a:srgbClr val="112239"/>
                          </a:solidFill>
                        </a:rPr>
                        <a:t>The CSV has no Q3 data, so no projection is made; the Q2 gaps stay as facts on the revenue and profit slides.</a:t>
                      </a:r>
                    </a:p>
                  </a:txBody>
                  <a:tcPr anchor="ctr">
                    <a:solidFill>
                      <a:srgbClr val="FFFFFF"/>
                    </a:solidFill>
                  </a:tcPr>
                </a:tc>
              </a:tr>
              <a:tr h="411480">
                <a:tc>
                  <a:txBody>
                    <a:bodyPr wrap="square"/>
                    <a:lstStyle/>
                    <a:p>
                      <a:r>
                        <a:rPr sz="1200" b="1">
                          <a:solidFill>
                            <a:srgbClr val="006B66"/>
                          </a:solidFill>
                        </a:rPr>
                        <a:t>Market insight</a:t>
                      </a:r>
                    </a:p>
                  </a:txBody>
                  <a:tcPr anchor="ctr">
                    <a:solidFill>
                      <a:srgbClr val="F1F5F9"/>
                    </a:solidFill>
                  </a:tcPr>
                </a:tc>
                <a:tc>
                  <a:txBody>
                    <a:bodyPr wrap="square"/>
                    <a:lstStyle/>
                    <a:p>
                      <a:r>
                        <a:rPr sz="1200" b="0">
                          <a:solidFill>
                            <a:srgbClr val="112239"/>
                          </a:solidFill>
                        </a:rPr>
                        <a:t>One synthetic CSV with no market or peer data. The external buyer-research claims in this project concern B2B buying, not this company, so they are not used.</a:t>
                      </a:r>
                    </a:p>
                  </a:txBody>
                  <a:tcPr anchor="ctr">
                    <a:solidFill>
                      <a:srgbClr val="F1F5F9"/>
                    </a:solidFill>
                  </a:tcPr>
                </a:tc>
              </a:tr>
              <a:tr h="411480">
                <a:tc>
                  <a:txBody>
                    <a:bodyPr wrap="square"/>
                    <a:lstStyle/>
                    <a:p>
                      <a:r>
                        <a:rPr sz="1200" b="1">
                          <a:solidFill>
                            <a:srgbClr val="006B66"/>
                          </a:solidFill>
                        </a:rPr>
                        <a:t>Proof</a:t>
                      </a:r>
                    </a:p>
                  </a:txBody>
                  <a:tcPr anchor="ctr">
                    <a:solidFill>
                      <a:srgbClr val="FFFFFF"/>
                    </a:solidFill>
                  </a:tcPr>
                </a:tc>
                <a:tc>
                  <a:txBody>
                    <a:bodyPr wrap="square"/>
                    <a:lstStyle/>
                    <a:p>
                      <a:r>
                        <a:rPr sz="1200" b="0">
                          <a:solidFill>
                            <a:srgbClr val="112239"/>
                          </a:solidFill>
                        </a:rPr>
                        <a:t>No evidence yet shows that the three requests work.</a:t>
                      </a:r>
                    </a:p>
                  </a:txBody>
                  <a:tcPr anchor="ctr">
                    <a:solidFill>
                      <a:srgbClr val="FFFFFF"/>
                    </a:solidFill>
                  </a:tcPr>
                </a:tc>
              </a:tr>
              <a:tr h="411480">
                <a:tc>
                  <a:txBody>
                    <a:bodyPr wrap="square"/>
                    <a:lstStyle/>
                    <a:p>
                      <a:r>
                        <a:rPr sz="1200" b="1">
                          <a:solidFill>
                            <a:srgbClr val="006B66"/>
                          </a:solidFill>
                        </a:rPr>
                        <a:t>Business case</a:t>
                      </a:r>
                    </a:p>
                  </a:txBody>
                  <a:tcPr anchor="ctr">
                    <a:solidFill>
                      <a:srgbClr val="F1F5F9"/>
                    </a:solidFill>
                  </a:tcPr>
                </a:tc>
                <a:tc>
                  <a:txBody>
                    <a:bodyPr wrap="square"/>
                    <a:lstStyle/>
                    <a:p>
                      <a:r>
                        <a:rPr sz="1200" b="0">
                          <a:solidFill>
                            <a:srgbClr val="112239"/>
                          </a:solidFill>
                        </a:rPr>
                        <a:t>No cost or benefit data exists, so an ROI figure would be invented.</a:t>
                      </a:r>
                    </a:p>
                  </a:txBody>
                  <a:tcPr anchor="ctr">
                    <a:solidFill>
                      <a:srgbClr val="F1F5F9"/>
                    </a:solidFill>
                  </a:tcPr>
                </a:tc>
              </a:tr>
            </a:tbl>
          </a:graphicData>
        </a:graphic>
      </p:graphicFrame>
      <p:sp>
        <p:nvSpPr>
          <p:cNvPr id="9" name="Merged steps"/>
          <p:cNvSpPr txBox="1"/>
          <p:nvPr/>
        </p:nvSpPr>
        <p:spPr>
          <a:xfrm>
            <a:off x="6245352" y="4681728"/>
            <a:ext cx="5394960" cy="457200"/>
          </a:xfrm>
          <a:prstGeom prst="rect">
            <a:avLst/>
          </a:prstGeom>
          <a:noFill/>
        </p:spPr>
        <p:txBody>
          <a:bodyPr wrap="square" anchor="t" lIns="73152" rIns="73152">
            <a:spAutoFit/>
          </a:bodyPr>
          <a:lstStyle/>
          <a:p>
            <a:pPr>
              <a:spcAft>
                <a:spcPts val="400"/>
              </a:spcAft>
            </a:pPr>
            <a:r>
              <a:rPr sz="1200" b="0">
                <a:solidFill>
                  <a:srgbClr val="475467"/>
                </a:solidFill>
              </a:rPr>
              <a:t>Merged, not omitted: future state (growth required by plan, on the revenue slide) and implementation (owners and outputs, on the decision slide).</a:t>
            </a:r>
          </a:p>
        </p:txBody>
      </p:sp>
      <p:sp>
        <p:nvSpPr>
          <p:cNvPr id="10" name="Glossary panel">
            <a:extLst>
              <a:ext uri="{C183D7F6-B498-43B3-948B-1728B52AA6E4}">
                <adec:decorative xmlns:adec="http://schemas.microsoft.com/office/drawing/2017/decorative" val="1"/>
              </a:ext>
            </a:extLst>
          </p:cNvPr>
          <p:cNvSpPr/>
          <p:nvPr/>
        </p:nvSpPr>
        <p:spPr>
          <a:xfrm>
            <a:off x="548640" y="5175504"/>
            <a:ext cx="11091672" cy="786384"/>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lossary heading"/>
          <p:cNvSpPr txBox="1"/>
          <p:nvPr/>
        </p:nvSpPr>
        <p:spPr>
          <a:xfrm>
            <a:off x="685800" y="5202936"/>
            <a:ext cx="1097280" cy="310896"/>
          </a:xfrm>
          <a:prstGeom prst="rect">
            <a:avLst/>
          </a:prstGeom>
          <a:noFill/>
        </p:spPr>
        <p:txBody>
          <a:bodyPr wrap="square" anchor="t" lIns="73152" rIns="73152">
            <a:spAutoFit/>
          </a:bodyPr>
          <a:lstStyle/>
          <a:p>
            <a:pPr>
              <a:spcAft>
                <a:spcPts val="400"/>
              </a:spcAft>
            </a:pPr>
            <a:r>
              <a:rPr sz="1200" b="1">
                <a:solidFill>
                  <a:srgbClr val="475467"/>
                </a:solidFill>
              </a:rPr>
              <a:t>GLOSSARY</a:t>
            </a:r>
          </a:p>
        </p:txBody>
      </p:sp>
      <p:sp>
        <p:nvSpPr>
          <p:cNvPr id="12" name="Glossary 1"/>
          <p:cNvSpPr txBox="1"/>
          <p:nvPr/>
        </p:nvSpPr>
        <p:spPr>
          <a:xfrm>
            <a:off x="1828800" y="5184648"/>
            <a:ext cx="4754880" cy="768096"/>
          </a:xfrm>
          <a:prstGeom prst="rect">
            <a:avLst/>
          </a:prstGeom>
          <a:noFill/>
        </p:spPr>
        <p:txBody>
          <a:bodyPr wrap="square" anchor="t" lIns="73152" rIns="73152">
            <a:spAutoFit/>
          </a:bodyPr>
          <a:lstStyle/>
          <a:p>
            <a:pPr>
              <a:spcAft>
                <a:spcPts val="400"/>
              </a:spcAft>
            </a:pPr>
            <a:r>
              <a:rPr sz="1200" b="1">
                <a:solidFill>
                  <a:srgbClr val="112239"/>
                </a:solidFill>
              </a:rPr>
              <a:t>Plan: </a:t>
            </a:r>
            <a:r>
              <a:rPr sz="1200" b="0">
                <a:solidFill>
                  <a:srgbClr val="112239"/>
                </a:solidFill>
              </a:rPr>
              <a:t>the Q2 2026 plan column of the source.</a:t>
            </a:r>
          </a:p>
          <a:p>
            <a:pPr>
              <a:spcAft>
                <a:spcPts val="400"/>
              </a:spcAft>
            </a:pPr>
            <a:r>
              <a:rPr sz="1200" b="1">
                <a:solidFill>
                  <a:srgbClr val="112239"/>
                </a:solidFill>
              </a:rPr>
              <a:t>Attainment: </a:t>
            </a:r>
            <a:r>
              <a:rPr sz="1200" b="0">
                <a:solidFill>
                  <a:srgbClr val="112239"/>
                </a:solidFill>
              </a:rPr>
              <a:t>Q2 actual ÷ Q2 plan, as a percent.</a:t>
            </a:r>
          </a:p>
          <a:p>
            <a:pPr>
              <a:spcAft>
                <a:spcPts val="400"/>
              </a:spcAft>
            </a:pPr>
            <a:r>
              <a:rPr sz="1200" b="1">
                <a:solidFill>
                  <a:srgbClr val="112239"/>
                </a:solidFill>
              </a:rPr>
              <a:t>Gap closed: </a:t>
            </a:r>
            <a:r>
              <a:rPr sz="1200" b="0">
                <a:solidFill>
                  <a:srgbClr val="112239"/>
                </a:solidFill>
              </a:rPr>
              <a:t>the share of the Q1-to-plan gap covered in Q2.</a:t>
            </a:r>
          </a:p>
        </p:txBody>
      </p:sp>
      <p:sp>
        <p:nvSpPr>
          <p:cNvPr id="13" name="Glossary 2"/>
          <p:cNvSpPr txBox="1"/>
          <p:nvPr/>
        </p:nvSpPr>
        <p:spPr>
          <a:xfrm>
            <a:off x="6675120" y="5184648"/>
            <a:ext cx="4937760" cy="768096"/>
          </a:xfrm>
          <a:prstGeom prst="rect">
            <a:avLst/>
          </a:prstGeom>
          <a:noFill/>
        </p:spPr>
        <p:txBody>
          <a:bodyPr wrap="square" anchor="t" lIns="73152" rIns="73152">
            <a:spAutoFit/>
          </a:bodyPr>
          <a:lstStyle/>
          <a:p>
            <a:pPr>
              <a:spcAft>
                <a:spcPts val="400"/>
              </a:spcAft>
            </a:pPr>
            <a:r>
              <a:rPr sz="1200" b="1">
                <a:solidFill>
                  <a:srgbClr val="112239"/>
                </a:solidFill>
              </a:rPr>
              <a:t>pp: </a:t>
            </a:r>
            <a:r>
              <a:rPr sz="1200" b="0">
                <a:solidFill>
                  <a:srgbClr val="112239"/>
                </a:solidFill>
              </a:rPr>
              <a:t>percentage points, the change in a percentage metric.</a:t>
            </a:r>
          </a:p>
          <a:p>
            <a:pPr>
              <a:spcAft>
                <a:spcPts val="400"/>
              </a:spcAft>
            </a:pPr>
            <a:r>
              <a:rPr sz="1200" b="1">
                <a:solidFill>
                  <a:srgbClr val="112239"/>
                </a:solidFill>
              </a:rPr>
              <a:t>x: </a:t>
            </a:r>
            <a:r>
              <a:rPr sz="1200" b="0">
                <a:solidFill>
                  <a:srgbClr val="112239"/>
                </a:solidFill>
              </a:rPr>
              <a:t>pipeline coverage multiple; basis not stated.</a:t>
            </a:r>
          </a:p>
          <a:p>
            <a:pPr>
              <a:spcAft>
                <a:spcPts val="400"/>
              </a:spcAft>
            </a:pPr>
            <a:r>
              <a:rPr sz="1200" b="1">
                <a:solidFill>
                  <a:srgbClr val="112239"/>
                </a:solidFill>
              </a:rPr>
              <a:t>Implied gross profit: </a:t>
            </a:r>
            <a:r>
              <a:rPr sz="1200" b="0">
                <a:solidFill>
                  <a:srgbClr val="112239"/>
                </a:solidFill>
              </a:rPr>
              <a:t>revenue × gross margin (derived).</a:t>
            </a:r>
          </a:p>
        </p:txBody>
      </p:sp>
      <p:sp>
        <p:nvSpPr>
          <p:cNvPr id="14" name="Source line"/>
          <p:cNvSpPr txBox="1"/>
          <p:nvPr/>
        </p:nvSpPr>
        <p:spPr>
          <a:xfrm>
            <a:off x="548640" y="5998464"/>
            <a:ext cx="11091672" cy="329184"/>
          </a:xfrm>
          <a:prstGeom prst="rect">
            <a:avLst/>
          </a:prstGeom>
          <a:noFill/>
        </p:spPr>
        <p:txBody>
          <a:bodyPr wrap="square" anchor="t" lIns="73152" rIns="73152">
            <a:spAutoFit/>
          </a:bodyPr>
          <a:lstStyle/>
          <a:p>
            <a:pPr>
              <a:spcAft>
                <a:spcPts val="400"/>
              </a:spcAft>
            </a:pPr>
            <a:r>
              <a:rPr sz="1200" b="0">
                <a:solidFill>
                  <a:srgbClr val="475467"/>
                </a:solidFill>
              </a:rPr>
              <a:t>Source: quarterly_metrics.csv (synthetic), its data dictionary and the calculation outputs (private working repository).</a:t>
            </a:r>
          </a:p>
        </p:txBody>
      </p:sp>
      <p:sp>
        <p:nvSpPr>
          <p:cNvPr id="15" name="Top bar">
            <a:extLst>
              <a:ext uri="{C183D7F6-B498-43B3-948B-1728B52AA6E4}">
                <adec:decorative xmlns:adec="http://schemas.microsoft.com/office/drawing/2017/decorative" val="1"/>
              </a:ext>
            </a:extLst>
          </p:cNvPr>
          <p:cNvSpPr/>
          <p:nvPr/>
        </p:nvSpPr>
        <p:spPr>
          <a:xfrm>
            <a:off x="0" y="0"/>
            <a:ext cx="12191695" cy="91440"/>
          </a:xfrm>
          <a:prstGeom prst="rect">
            <a:avLst/>
          </a:prstGeom>
          <a:solidFill>
            <a:srgbClr val="00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ooter rule">
            <a:extLst>
              <a:ext uri="{C183D7F6-B498-43B3-948B-1728B52AA6E4}">
                <adec:decorative xmlns:adec="http://schemas.microsoft.com/office/drawing/2017/decorative" val="1"/>
              </a:ext>
            </a:extLst>
          </p:cNvPr>
          <p:cNvSpPr/>
          <p:nvPr/>
        </p:nvSpPr>
        <p:spPr>
          <a:xfrm>
            <a:off x="548640" y="6355080"/>
            <a:ext cx="11091672" cy="9144"/>
          </a:xfrm>
          <a:prstGeom prst="rect">
            <a:avLst/>
          </a:prstGeom>
          <a:solidFill>
            <a:srgbClr val="D0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sclosure"/>
          <p:cNvSpPr txBox="1"/>
          <p:nvPr/>
        </p:nvSpPr>
        <p:spPr>
          <a:xfrm>
            <a:off x="548640" y="6382512"/>
            <a:ext cx="9601200" cy="310896"/>
          </a:xfrm>
          <a:prstGeom prst="rect">
            <a:avLst/>
          </a:prstGeom>
          <a:noFill/>
        </p:spPr>
        <p:txBody>
          <a:bodyPr wrap="square" anchor="t" lIns="73152" rIns="73152">
            <a:spAutoFit/>
          </a:bodyPr>
          <a:lstStyle/>
          <a:p>
            <a:pPr>
              <a:spcAft>
                <a:spcPts val="400"/>
              </a:spcAft>
            </a:pPr>
            <a:r>
              <a:rPr sz="1200" b="0">
                <a:solidFill>
                  <a:srgbClr val="475467"/>
                </a:solidFill>
              </a:rPr>
              <a:t>Synthetic data. Northstar Cloud is a fictional company. Illustrative portfolio case.</a:t>
            </a:r>
          </a:p>
        </p:txBody>
      </p:sp>
      <p:sp>
        <p:nvSpPr>
          <p:cNvPr id="18" name="Page number"/>
          <p:cNvSpPr txBox="1"/>
          <p:nvPr/>
        </p:nvSpPr>
        <p:spPr>
          <a:xfrm>
            <a:off x="11018520" y="6382512"/>
            <a:ext cx="640080" cy="310896"/>
          </a:xfrm>
          <a:prstGeom prst="rect">
            <a:avLst/>
          </a:prstGeom>
          <a:noFill/>
        </p:spPr>
        <p:txBody>
          <a:bodyPr wrap="square" anchor="t" lIns="73152" rIns="73152">
            <a:spAutoFit/>
          </a:bodyPr>
          <a:lstStyle/>
          <a:p>
            <a:pPr>
              <a:spcAft>
                <a:spcPts val="400"/>
              </a:spcAft>
            </a:pPr>
            <a:r>
              <a:rPr sz="1200" b="0">
                <a:solidFill>
                  <a:srgbClr val="475467"/>
                </a:solidFil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Cloud Q2 2026 Business Review v6, standalone leave-behind (synthetic portfolio case)</dc:title>
  <dc:subject/>
  <dc:creator>Executive presentation portfolio (synthetic data)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