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Revenue (USD M)</c:v>
                </c:pt>
              </c:strCache>
            </c:strRef>
          </c:tx>
          <c:dPt>
            <c:idx val="0"/>
            <c:spPr>
              <a:solidFill>
                <a:srgbClr val="667085"/>
              </a:solidFill>
            </c:spPr>
          </c:dPt>
          <c:dPt>
            <c:idx val="1"/>
            <c:spPr>
              <a:solidFill>
                <a:srgbClr val="FFFFFF"/>
              </a:solidFill>
              <a:ln w="25400">
                <a:solidFill>
                  <a:srgbClr val="112239"/>
                </a:solidFill>
              </a:ln>
            </c:spPr>
          </c:dPt>
          <c:dPt>
            <c:idx val="2"/>
            <c:spPr>
              <a:solidFill>
                <a:srgbClr val="112239"/>
              </a:solidFill>
            </c:spPr>
          </c:dPt>
          <c:cat>
            <c:strRef>
              <c:f>Sheet1!$A$2:$A$4</c:f>
              <c:strCache>
                <c:ptCount val="3"/>
                <c:pt idx="0">
                  <c:v>Q1 2026 actual</c:v>
                </c:pt>
                <c:pt idx="1">
                  <c:v>Q2 2026 plan</c:v>
                </c:pt>
                <c:pt idx="2">
                  <c:v>Q2 2026 actual</c:v>
                </c:pt>
              </c:strCache>
            </c:strRef>
          </c:cat>
          <c:val>
            <c:numRef>
              <c:f>Sheet1!$B$2:$B$4</c:f>
              <c:numCache>
                <c:formatCode>General</c:formatCode>
                <c:ptCount val="3"/>
                <c:pt idx="0">
                  <c:v>4.2</c:v>
                </c:pt>
                <c:pt idx="1">
                  <c:v>5.0</c:v>
                </c:pt>
                <c:pt idx="2">
                  <c:v>4.8</c:v>
                </c:pt>
              </c:numCache>
            </c:numRef>
          </c:val>
        </c:ser>
        <c:dLbls>
          <c:numFmt formatCode="&quot;$&quot;0.0&quot;M&quot;" sourceLinked="0"/>
          <c:txPr>
            <a:bodyPr/>
            <a:lstStyle/>
            <a:p>
              <a:pPr>
                <a:defRPr sz="1600" b="1">
                  <a:solidFill>
                    <a:srgbClr val="112239"/>
                  </a:solidFil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D0D5DD"/>
            </a:solidFill>
          </a:ln>
        </c:spPr>
        <c:txPr>
          <a:bodyPr/>
          <a:lstStyle/>
          <a:p>
            <a:pPr>
              <a:defRPr sz="1400"/>
            </a:pPr>
          </a:p>
        </c:txPr>
        <c:crossAx val="-2113994440"/>
        <c:crosses val="autoZero"/>
        <c:auto val="1"/>
        <c:lblAlgn val="ctr"/>
        <c:lblOffset val="100"/>
        <c:noMultiLvlLbl val="0"/>
      </c:catAx>
      <c:valAx>
        <c:axId val="-2113994440"/>
        <c:scaling>
          <c:max val="6.0"/>
          <c:min val="0.0"/>
        </c:scaling>
        <c:delete/>
        <c:axPos val="l"/>
        <c:majorTickMark val="out"/>
        <c:minorTickMark val="none"/>
        <c:tickLblPos val="nextTo"/>
        <c:crossAx val="-2068027336"/>
        <c:crosses val="autoZero"/>
        <c:majorUnit val="1.0"/>
      </c:valAx>
    </c:plotArea>
    <c:dispBlanksAs val="gap"/>
  </c:chart>
  <c:txPr>
    <a:bodyPr/>
    <a:lstStyle/>
    <a:p>
      <a:pPr>
        <a:defRPr sz="1300">
          <a:solidFill>
            <a:srgbClr val="475467"/>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2"/>
          <c:y val="0.14"/>
          <c:w val="0.96"/>
          <c:h val="0.62"/>
        </c:manualLayout>
      </c:layout>
      <c:barChart>
        <c:barDir val="col"/>
        <c:grouping val="stacked"/>
        <c:ser>
          <c:idx val="0"/>
          <c:order val="0"/>
          <c:tx>
            <c:strRef>
              <c:f>Sheet1!$B$1</c:f>
              <c:strCache>
                <c:ptCount val="1"/>
                <c:pt idx="0">
                  <c:v>Bridge base (hidden)</c:v>
                </c:pt>
              </c:strCache>
            </c:strRef>
          </c:tx>
          <c:spPr>
            <a:noFill/>
            <a:ln>
              <a:noFill/>
            </a:ln>
          </c:spPr>
          <c:invertIfNegative val="0"/>
          <c:cat>
            <c:strRef>
              <c:f>Sheet1!$A$2:$A$5</c:f>
              <c:strCache>
                <c:ptCount val="4"/>
                <c:pt idx="0">
                  <c:v>Q2 2026 plan</c:v>
                </c:pt>
                <c:pt idx="1">
                  <c:v>Revenue below plan (at plan margin)</c:v>
                </c:pt>
                <c:pt idx="2">
                  <c:v>Gross margin above plan</c:v>
                </c:pt>
                <c:pt idx="3">
                  <c:v>Q2 2026 actual</c:v>
                </c:pt>
              </c:strCache>
            </c:strRef>
          </c:cat>
          <c:val>
            <c:numRef>
              <c:f>Sheet1!$B$2:$B$5</c:f>
              <c:numCache>
                <c:formatCode>General</c:formatCode>
                <c:ptCount val="4"/>
                <c:pt idx="1">
                  <c:v>3.5039999999999996</c:v>
                </c:pt>
                <c:pt idx="2">
                  <c:v>3.5039999999999996</c:v>
                </c:pt>
              </c:numCache>
            </c:numRef>
          </c:val>
        </c:ser>
        <c:ser>
          <c:idx val="1"/>
          <c:order val="1"/>
          <c:tx>
            <c:strRef>
              <c:f>Sheet1!$C$1</c:f>
              <c:strCache>
                <c:ptCount val="1"/>
                <c:pt idx="0">
                  <c:v>Implied gross profit</c:v>
                </c:pt>
              </c:strCache>
            </c:strRef>
          </c:tx>
          <c:invertIfNegative val="0"/>
          <c:dPt>
            <c:idx val="0"/>
            <c:spPr>
              <a:solidFill>
                <a:srgbClr val="FFFFFF"/>
              </a:solidFill>
              <a:ln w="25400">
                <a:solidFill>
                  <a:srgbClr val="112239"/>
                </a:solidFill>
              </a:ln>
            </c:spPr>
          </c:dPt>
          <c:dPt>
            <c:idx val="3"/>
            <c:spPr>
              <a:solidFill>
                <a:srgbClr val="112239"/>
              </a:solidFill>
            </c:spPr>
          </c:dPt>
          <c:cat>
            <c:strRef>
              <c:f>Sheet1!$A$2:$A$5</c:f>
              <c:strCache>
                <c:ptCount val="4"/>
                <c:pt idx="0">
                  <c:v>Q2 2026 plan</c:v>
                </c:pt>
                <c:pt idx="1">
                  <c:v>Revenue below plan (at plan margin)</c:v>
                </c:pt>
                <c:pt idx="2">
                  <c:v>Gross margin above plan</c:v>
                </c:pt>
                <c:pt idx="3">
                  <c:v>Q2 2026 actual</c:v>
                </c:pt>
              </c:strCache>
            </c:strRef>
          </c:cat>
          <c:val>
            <c:numRef>
              <c:f>Sheet1!$C$2:$C$5</c:f>
              <c:numCache>
                <c:formatCode>General</c:formatCode>
                <c:ptCount val="4"/>
                <c:pt idx="0">
                  <c:v>3.65</c:v>
                </c:pt>
                <c:pt idx="3">
                  <c:v>3.552</c:v>
                </c:pt>
              </c:numCache>
            </c:numRef>
          </c:val>
        </c:ser>
        <c:ser>
          <c:idx val="2"/>
          <c:order val="2"/>
          <c:tx>
            <c:strRef>
              <c:f>Sheet1!$D$1</c:f>
              <c:strCache>
                <c:ptCount val="1"/>
                <c:pt idx="0">
                  <c:v>Revenue below plan</c:v>
                </c:pt>
              </c:strCache>
            </c:strRef>
          </c:tx>
          <c:spPr>
            <a:solidFill>
              <a:srgbClr val="B42318"/>
            </a:solidFill>
          </c:spPr>
          <c:invertIfNegative val="0"/>
          <c:cat>
            <c:strRef>
              <c:f>Sheet1!$A$2:$A$5</c:f>
              <c:strCache>
                <c:ptCount val="4"/>
                <c:pt idx="0">
                  <c:v>Q2 2026 plan</c:v>
                </c:pt>
                <c:pt idx="1">
                  <c:v>Revenue below plan (at plan margin)</c:v>
                </c:pt>
                <c:pt idx="2">
                  <c:v>Gross margin above plan</c:v>
                </c:pt>
                <c:pt idx="3">
                  <c:v>Q2 2026 actual</c:v>
                </c:pt>
              </c:strCache>
            </c:strRef>
          </c:cat>
          <c:val>
            <c:numRef>
              <c:f>Sheet1!$D$2:$D$5</c:f>
              <c:numCache>
                <c:formatCode>General</c:formatCode>
                <c:ptCount val="4"/>
                <c:pt idx="1">
                  <c:v>0.14600000000000013</c:v>
                </c:pt>
              </c:numCache>
            </c:numRef>
          </c:val>
        </c:ser>
        <c:ser>
          <c:idx val="3"/>
          <c:order val="3"/>
          <c:tx>
            <c:strRef>
              <c:f>Sheet1!$E$1</c:f>
              <c:strCache>
                <c:ptCount val="1"/>
                <c:pt idx="0">
                  <c:v>Gross margin above plan</c:v>
                </c:pt>
              </c:strCache>
            </c:strRef>
          </c:tx>
          <c:spPr>
            <a:solidFill>
              <a:srgbClr val="027A48"/>
            </a:solidFill>
          </c:spPr>
          <c:invertIfNegative val="0"/>
          <c:cat>
            <c:strRef>
              <c:f>Sheet1!$A$2:$A$5</c:f>
              <c:strCache>
                <c:ptCount val="4"/>
                <c:pt idx="0">
                  <c:v>Q2 2026 plan</c:v>
                </c:pt>
                <c:pt idx="1">
                  <c:v>Revenue below plan (at plan margin)</c:v>
                </c:pt>
                <c:pt idx="2">
                  <c:v>Gross margin above plan</c:v>
                </c:pt>
                <c:pt idx="3">
                  <c:v>Q2 2026 actual</c:v>
                </c:pt>
              </c:strCache>
            </c:strRef>
          </c:cat>
          <c:val>
            <c:numRef>
              <c:f>Sheet1!$E$2:$E$5</c:f>
              <c:numCache>
                <c:formatCode>General</c:formatCode>
                <c:ptCount val="4"/>
                <c:pt idx="2">
                  <c:v>0.048</c:v>
                </c:pt>
              </c:numCache>
            </c:numRef>
          </c:val>
        </c:ser>
        <c:gapWidth val="55"/>
        <c:overlap val="100"/>
        <c:axId val="-2068027336"/>
        <c:axId val="-2113994440"/>
      </c:barChart>
      <c:catAx>
        <c:axId val="-2068027336"/>
        <c:scaling>
          <c:orientation val="minMax"/>
        </c:scaling>
        <c:delete val="0"/>
        <c:axPos val="b"/>
        <c:majorTickMark val="out"/>
        <c:minorTickMark val="none"/>
        <c:tickLblPos val="nextTo"/>
        <c:spPr>
          <a:ln>
            <a:solidFill>
              <a:srgbClr val="475467"/>
            </a:solidFill>
          </a:ln>
        </c:spPr>
        <c:txPr>
          <a:bodyPr/>
          <a:lstStyle/>
          <a:p>
            <a:pPr>
              <a:defRPr sz="1400"/>
            </a:pPr>
          </a:p>
        </c:txPr>
        <c:crossAx val="-2113994440"/>
        <c:crosses val="autoZero"/>
        <c:auto val="1"/>
        <c:lblAlgn val="ctr"/>
        <c:lblOffset val="100"/>
        <c:noMultiLvlLbl val="0"/>
      </c:catAx>
      <c:valAx>
        <c:axId val="-2113994440"/>
        <c:scaling>
          <c:max val="4.0"/>
          <c:min val="0.0"/>
        </c:scaling>
        <c:delete/>
        <c:axPos val="l"/>
        <c:majorTickMark val="out"/>
        <c:minorTickMark val="none"/>
        <c:tickLblPos val="nextTo"/>
        <c:crossAx val="-2068027336"/>
        <c:crosses val="autoZero"/>
        <c:majorUnit val="1.0"/>
      </c:valAx>
    </c:plotArea>
    <c:dispBlanksAs val="gap"/>
  </c:chart>
  <c:txPr>
    <a:bodyPr/>
    <a:lstStyle/>
    <a:p>
      <a:pPr>
        <a:defRPr sz="1400">
          <a:solidFill>
            <a:srgbClr val="475467"/>
          </a:solidFil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Gap closed (%)</c:v>
                </c:pt>
              </c:strCache>
            </c:strRef>
          </c:tx>
          <c:dPt>
            <c:idx val="0"/>
            <c:spPr>
              <a:solidFill>
                <a:srgbClr val="027A48"/>
              </a:solidFill>
            </c:spPr>
          </c:dPt>
          <c:dPt>
            <c:idx val="1"/>
            <c:spPr>
              <a:solidFill>
                <a:srgbClr val="667085"/>
              </a:solidFill>
            </c:spPr>
          </c:dPt>
          <c:dPt>
            <c:idx val="2"/>
            <c:spPr>
              <a:solidFill>
                <a:srgbClr val="667085"/>
              </a:solidFill>
            </c:spPr>
          </c:dPt>
          <c:dPt>
            <c:idx val="3"/>
            <c:spPr>
              <a:solidFill>
                <a:srgbClr val="667085"/>
              </a:solidFill>
            </c:spPr>
          </c:dPt>
          <c:dPt>
            <c:idx val="4"/>
            <c:spPr>
              <a:solidFill>
                <a:srgbClr val="667085"/>
              </a:solidFill>
            </c:spPr>
          </c:dPt>
          <c:dPt>
            <c:idx val="5"/>
            <c:spPr>
              <a:solidFill>
                <a:srgbClr val="667085"/>
              </a:solidFill>
            </c:spPr>
          </c:dPt>
          <c:dPt>
            <c:idx val="6"/>
            <c:spPr>
              <a:solidFill>
                <a:srgbClr val="B42318"/>
              </a:solidFill>
            </c:spPr>
          </c:dPt>
          <c:cat>
            <c:strRef>
              <c:f>Sheet1!$A$2:$A$8</c:f>
              <c:strCache>
                <c:ptCount val="7"/>
                <c:pt idx="0">
                  <c:v>Gross margin</c:v>
                </c:pt>
                <c:pt idx="1">
                  <c:v>Revenue</c:v>
                </c:pt>
                <c:pt idx="2">
                  <c:v>New ARR</c:v>
                </c:pt>
                <c:pt idx="3">
                  <c:v>Enterprise win rate</c:v>
                </c:pt>
                <c:pt idx="4">
                  <c:v>Sales cycle</c:v>
                </c:pt>
                <c:pt idx="5">
                  <c:v>Net revenue retention</c:v>
                </c:pt>
                <c:pt idx="6">
                  <c:v>Pipeline coverage</c:v>
                </c:pt>
              </c:strCache>
            </c:strRef>
          </c:cat>
          <c:val>
            <c:numRef>
              <c:f>Sheet1!$B$2:$B$8</c:f>
              <c:numCache>
                <c:formatCode>General</c:formatCode>
                <c:ptCount val="7"/>
                <c:pt idx="0">
                  <c:v>200.0</c:v>
                </c:pt>
                <c:pt idx="1">
                  <c:v>74.99999999999997</c:v>
                </c:pt>
                <c:pt idx="2">
                  <c:v>74.99999999999997</c:v>
                </c:pt>
                <c:pt idx="3">
                  <c:v>66.66666666666666</c:v>
                </c:pt>
                <c:pt idx="4">
                  <c:v>57.14285714285714</c:v>
                </c:pt>
                <c:pt idx="5">
                  <c:v>50.0</c:v>
                </c:pt>
                <c:pt idx="6">
                  <c:v>39.99999999999994</c:v>
                </c:pt>
              </c:numCache>
            </c:numRef>
          </c:val>
        </c:ser>
        <c:dLbls>
          <c:numFmt formatCode="0&quot;%&quot;" sourceLinked="0"/>
          <c:txPr>
            <a:bodyPr/>
            <a:lstStyle/>
            <a:p>
              <a:pPr>
                <a:defRPr sz="1400" b="1">
                  <a:solidFill>
                    <a:srgbClr val="112239"/>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D0D5DD"/>
            </a:solidFill>
          </a:ln>
        </c:spPr>
        <c:txPr>
          <a:bodyPr/>
          <a:lstStyle/>
          <a:p>
            <a:pPr>
              <a:defRPr sz="1400"/>
            </a:pPr>
          </a:p>
        </c:txPr>
        <c:crossAx val="-2113994440"/>
        <c:crosses val="autoZero"/>
        <c:auto val="1"/>
        <c:lblAlgn val="ctr"/>
        <c:lblOffset val="100"/>
        <c:noMultiLvlLbl val="0"/>
      </c:catAx>
      <c:valAx>
        <c:axId val="-2113994440"/>
        <c:scaling>
          <c:max val="225.0"/>
          <c:min val="0.0"/>
        </c:scaling>
        <c:delete/>
        <c:axPos val="b"/>
        <c:majorTickMark val="out"/>
        <c:minorTickMark val="none"/>
        <c:tickLblPos val="nextTo"/>
        <c:crossAx val="-2068027336"/>
        <c:crosses val="autoZero"/>
        <c:majorUnit val="25.0"/>
      </c:valAx>
    </c:plotArea>
    <c:dispBlanksAs val="gap"/>
  </c:chart>
  <c:txPr>
    <a:bodyPr/>
    <a:lstStyle/>
    <a:p>
      <a:pPr>
        <a:defRPr sz="1300">
          <a:solidFill>
            <a:srgbClr val="475467"/>
          </a:solidFil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first. Headline and tiles trace to findings F-01, F-02, F-03, F-05, F-06, F-09. Decision request traces to F-20. Claims register: 06_executive_improvements/claims_register.csv.</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Messages trace to F-02, F-04, F-06, F-12 (derived, assumption L-007), F-05, F-08. Boundary statement: assessment section 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Chart convention: prior period solid grey, plan outlined, actual solid navy. Zero-based axis. Findings F-01 to F-04, F-13.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finding F-12 and interpretation F-14. Assumption L-007. Bridge: plan gross profit + volume part + rate part = actual gross profit. The step level is C-GROSS_PROFIT-AT-PLAN-MARGIN. On a zero-based axis the steps are small against the total; the value labels carry the exact amounts.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Findings F-05 to F-11. Values from the source CSV; changes and variances from calculation_checks.md.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Finding F-05 (calculation) and F-15 (interpretation). 'Lowest' is a rank of gap closure among the seven metrics shown; it is not a claim of predictive power or cause. Coverage basis unknown: L-004. Chart labels are rounded to whole percents; exact values in calculation_checks.md.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Recommendations F-20 to F-23. Each request answers an open question (F-24 to F-26).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Limitations L-002, L-003, L-004, L-007, L-009, L-010. Full register: 02_data_validation/discrepancy_register.md.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48640" y="502920"/>
            <a:ext cx="11064240" cy="1024128"/>
          </a:xfrm>
        </p:spPr>
        <p:txBody>
          <a:bodyPr wrap="square" anchor="t" lIns="73152"/>
          <a:lstStyle/>
          <a:p>
            <a:pPr algn="l"/>
            <a:r>
              <a:rPr sz="2600" b="1">
                <a:solidFill>
                  <a:srgbClr val="112239"/>
                </a:solidFill>
                <a:latin typeface="Calibri"/>
              </a:rPr>
              <a:t>Q2 revenue grew 14.3% but reached 96% of plan; pipeline coverage closed the least of its gap</a:t>
            </a:r>
          </a:p>
        </p:txBody>
      </p:sp>
      <p:sp>
        <p:nvSpPr>
          <p:cNvPr id="3" name="Header"/>
          <p:cNvSpPr txBox="1"/>
          <p:nvPr/>
        </p:nvSpPr>
        <p:spPr>
          <a:xfrm>
            <a:off x="548640" y="201168"/>
            <a:ext cx="8229600" cy="292608"/>
          </a:xfrm>
          <a:prstGeom prst="rect">
            <a:avLst/>
          </a:prstGeom>
          <a:noFill/>
        </p:spPr>
        <p:txBody>
          <a:bodyPr wrap="square" anchor="t" lIns="73152" rIns="73152">
            <a:spAutoFit/>
          </a:bodyPr>
          <a:lstStyle/>
          <a:p>
            <a:pPr>
              <a:spcAft>
                <a:spcPts val="400"/>
              </a:spcAft>
            </a:pPr>
            <a:r>
              <a:rPr sz="1100" b="1">
                <a:solidFill>
                  <a:srgbClr val="006B66"/>
                </a:solidFill>
              </a:rPr>
              <a:t>NORTHSTAR CLOUD  /  Q2 2026 BUSINESS REVIEW</a:t>
            </a:r>
          </a:p>
        </p:txBody>
      </p:sp>
      <p:sp>
        <p:nvSpPr>
          <p:cNvPr id="4" name="Subtitle"/>
          <p:cNvSpPr txBox="1"/>
          <p:nvPr/>
        </p:nvSpPr>
        <p:spPr>
          <a:xfrm>
            <a:off x="548640" y="1536192"/>
            <a:ext cx="11064240" cy="365760"/>
          </a:xfrm>
          <a:prstGeom prst="rect">
            <a:avLst/>
          </a:prstGeom>
          <a:noFill/>
        </p:spPr>
        <p:txBody>
          <a:bodyPr wrap="square" anchor="t" lIns="73152" rIns="73152">
            <a:spAutoFit/>
          </a:bodyPr>
          <a:lstStyle/>
          <a:p>
            <a:pPr>
              <a:spcAft>
                <a:spcPts val="400"/>
              </a:spcAft>
            </a:pPr>
            <a:r>
              <a:rPr sz="1400" b="0">
                <a:solidFill>
                  <a:srgbClr val="475467"/>
                </a:solidFill>
              </a:rPr>
              <a:t>Q2 2026 actuals compared with Q1 2026 actuals and the Q2 2026 plan</a:t>
            </a:r>
          </a:p>
        </p:txBody>
      </p:sp>
      <p:sp>
        <p:nvSpPr>
          <p:cNvPr id="5" name="Tile 1 panel">
            <a:extLst>
              <a:ext uri="{C183D7F6-B498-43B3-948B-1728B52AA6E4}">
                <adec:decorative xmlns:adec="http://schemas.microsoft.com/office/drawing/2017/decorative" val="1"/>
              </a:ext>
            </a:extLst>
          </p:cNvPr>
          <p:cNvSpPr/>
          <p:nvPr/>
        </p:nvSpPr>
        <p:spPr>
          <a:xfrm>
            <a:off x="548640" y="2057400"/>
            <a:ext cx="3520440" cy="20574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ile 1 accent">
            <a:extLst>
              <a:ext uri="{C183D7F6-B498-43B3-948B-1728B52AA6E4}">
                <adec:decorative xmlns:adec="http://schemas.microsoft.com/office/drawing/2017/decorative" val="1"/>
              </a:ext>
            </a:extLst>
          </p:cNvPr>
          <p:cNvSpPr/>
          <p:nvPr/>
        </p:nvSpPr>
        <p:spPr>
          <a:xfrm>
            <a:off x="548640" y="2057400"/>
            <a:ext cx="73152" cy="2057400"/>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ile 1"/>
          <p:cNvSpPr txBox="1"/>
          <p:nvPr/>
        </p:nvSpPr>
        <p:spPr>
          <a:xfrm>
            <a:off x="731520" y="2167128"/>
            <a:ext cx="3200400" cy="1874519"/>
          </a:xfrm>
          <a:prstGeom prst="rect">
            <a:avLst/>
          </a:prstGeom>
          <a:noFill/>
        </p:spPr>
        <p:txBody>
          <a:bodyPr wrap="square" anchor="t" lIns="73152" rIns="73152">
            <a:spAutoFit/>
          </a:bodyPr>
          <a:lstStyle/>
          <a:p>
            <a:pPr>
              <a:spcAft>
                <a:spcPts val="400"/>
              </a:spcAft>
            </a:pPr>
            <a:r>
              <a:rPr sz="1200" b="1">
                <a:solidFill>
                  <a:srgbClr val="475467"/>
                </a:solidFill>
              </a:rPr>
              <a:t>REVENUE, Q2 2026</a:t>
            </a:r>
          </a:p>
          <a:p>
            <a:pPr>
              <a:spcAft>
                <a:spcPts val="400"/>
              </a:spcAft>
            </a:pPr>
            <a:r>
              <a:rPr sz="3600" b="1">
                <a:solidFill>
                  <a:srgbClr val="112239"/>
                </a:solidFill>
              </a:rPr>
              <a:t>$4.8M</a:t>
            </a:r>
          </a:p>
          <a:p>
            <a:pPr>
              <a:spcAft>
                <a:spcPts val="400"/>
              </a:spcAft>
            </a:pPr>
            <a:r>
              <a:rPr sz="1400" b="0">
                <a:solidFill>
                  <a:srgbClr val="112239"/>
                </a:solidFill>
              </a:rPr>
              <a:t>+14.3% vs Q1</a:t>
            </a:r>
          </a:p>
          <a:p>
            <a:pPr>
              <a:spcAft>
                <a:spcPts val="400"/>
              </a:spcAft>
            </a:pPr>
            <a:r>
              <a:rPr sz="1400" b="0">
                <a:solidFill>
                  <a:srgbClr val="112239"/>
                </a:solidFill>
              </a:rPr>
              <a:t>96.0% of $5.0M plan</a:t>
            </a:r>
          </a:p>
        </p:txBody>
      </p:sp>
      <p:sp>
        <p:nvSpPr>
          <p:cNvPr id="8" name="Tile 2 panel">
            <a:extLst>
              <a:ext uri="{C183D7F6-B498-43B3-948B-1728B52AA6E4}">
                <adec:decorative xmlns:adec="http://schemas.microsoft.com/office/drawing/2017/decorative" val="1"/>
              </a:ext>
            </a:extLst>
          </p:cNvPr>
          <p:cNvSpPr/>
          <p:nvPr/>
        </p:nvSpPr>
        <p:spPr>
          <a:xfrm>
            <a:off x="4297679" y="2057400"/>
            <a:ext cx="3520440" cy="20574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ile 2 accent">
            <a:extLst>
              <a:ext uri="{C183D7F6-B498-43B3-948B-1728B52AA6E4}">
                <adec:decorative xmlns:adec="http://schemas.microsoft.com/office/drawing/2017/decorative" val="1"/>
              </a:ext>
            </a:extLst>
          </p:cNvPr>
          <p:cNvSpPr/>
          <p:nvPr/>
        </p:nvSpPr>
        <p:spPr>
          <a:xfrm>
            <a:off x="4297679" y="2057400"/>
            <a:ext cx="73152" cy="2057400"/>
          </a:xfrm>
          <a:prstGeom prst="rect">
            <a:avLst/>
          </a:prstGeom>
          <a:solidFill>
            <a:srgbClr val="027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ile 2"/>
          <p:cNvSpPr txBox="1"/>
          <p:nvPr/>
        </p:nvSpPr>
        <p:spPr>
          <a:xfrm>
            <a:off x="4480559" y="2167128"/>
            <a:ext cx="3200400" cy="1874519"/>
          </a:xfrm>
          <a:prstGeom prst="rect">
            <a:avLst/>
          </a:prstGeom>
          <a:noFill/>
        </p:spPr>
        <p:txBody>
          <a:bodyPr wrap="square" anchor="t" lIns="73152" rIns="73152">
            <a:spAutoFit/>
          </a:bodyPr>
          <a:lstStyle/>
          <a:p>
            <a:pPr>
              <a:spcAft>
                <a:spcPts val="400"/>
              </a:spcAft>
            </a:pPr>
            <a:r>
              <a:rPr sz="1200" b="1">
                <a:solidFill>
                  <a:srgbClr val="475467"/>
                </a:solidFill>
              </a:rPr>
              <a:t>GROSS MARGIN, Q2 2026</a:t>
            </a:r>
          </a:p>
          <a:p>
            <a:pPr>
              <a:spcAft>
                <a:spcPts val="400"/>
              </a:spcAft>
            </a:pPr>
            <a:r>
              <a:rPr sz="3600" b="1">
                <a:solidFill>
                  <a:srgbClr val="112239"/>
                </a:solidFill>
              </a:rPr>
              <a:t>74%</a:t>
            </a:r>
          </a:p>
          <a:p>
            <a:pPr>
              <a:spcAft>
                <a:spcPts val="400"/>
              </a:spcAft>
            </a:pPr>
            <a:r>
              <a:rPr sz="1400" b="0">
                <a:solidFill>
                  <a:srgbClr val="112239"/>
                </a:solidFill>
              </a:rPr>
              <a:t>+1 pp vs plan</a:t>
            </a:r>
          </a:p>
          <a:p>
            <a:pPr>
              <a:spcAft>
                <a:spcPts val="400"/>
              </a:spcAft>
            </a:pPr>
            <a:r>
              <a:rPr sz="1400" b="0">
                <a:solidFill>
                  <a:srgbClr val="112239"/>
                </a:solidFill>
              </a:rPr>
              <a:t>The only metric ahead of plan</a:t>
            </a:r>
          </a:p>
        </p:txBody>
      </p:sp>
      <p:sp>
        <p:nvSpPr>
          <p:cNvPr id="11" name="Tile 3 panel">
            <a:extLst>
              <a:ext uri="{C183D7F6-B498-43B3-948B-1728B52AA6E4}">
                <adec:decorative xmlns:adec="http://schemas.microsoft.com/office/drawing/2017/decorative" val="1"/>
              </a:ext>
            </a:extLst>
          </p:cNvPr>
          <p:cNvSpPr/>
          <p:nvPr/>
        </p:nvSpPr>
        <p:spPr>
          <a:xfrm>
            <a:off x="8046719" y="2057400"/>
            <a:ext cx="3520440" cy="20574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ile 3 accent">
            <a:extLst>
              <a:ext uri="{C183D7F6-B498-43B3-948B-1728B52AA6E4}">
                <adec:decorative xmlns:adec="http://schemas.microsoft.com/office/drawing/2017/decorative" val="1"/>
              </a:ext>
            </a:extLst>
          </p:cNvPr>
          <p:cNvSpPr/>
          <p:nvPr/>
        </p:nvSpPr>
        <p:spPr>
          <a:xfrm>
            <a:off x="8046719" y="2057400"/>
            <a:ext cx="73152" cy="2057400"/>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ile 3"/>
          <p:cNvSpPr txBox="1"/>
          <p:nvPr/>
        </p:nvSpPr>
        <p:spPr>
          <a:xfrm>
            <a:off x="8229599" y="2167128"/>
            <a:ext cx="3200400" cy="1874519"/>
          </a:xfrm>
          <a:prstGeom prst="rect">
            <a:avLst/>
          </a:prstGeom>
          <a:noFill/>
        </p:spPr>
        <p:txBody>
          <a:bodyPr wrap="square" anchor="t" lIns="73152" rIns="73152">
            <a:spAutoFit/>
          </a:bodyPr>
          <a:lstStyle/>
          <a:p>
            <a:pPr>
              <a:spcAft>
                <a:spcPts val="400"/>
              </a:spcAft>
            </a:pPr>
            <a:r>
              <a:rPr sz="1200" b="1">
                <a:solidFill>
                  <a:srgbClr val="475467"/>
                </a:solidFill>
              </a:rPr>
              <a:t>PIPELINE COVERAGE, Q2 2026</a:t>
            </a:r>
          </a:p>
          <a:p>
            <a:pPr>
              <a:spcAft>
                <a:spcPts val="400"/>
              </a:spcAft>
            </a:pPr>
            <a:r>
              <a:rPr sz="3600" b="1">
                <a:solidFill>
                  <a:srgbClr val="112239"/>
                </a:solidFill>
              </a:rPr>
              <a:t>2.9x</a:t>
            </a:r>
          </a:p>
          <a:p>
            <a:pPr>
              <a:spcAft>
                <a:spcPts val="400"/>
              </a:spcAft>
            </a:pPr>
            <a:r>
              <a:rPr sz="1400" b="0">
                <a:solidFill>
                  <a:srgbClr val="112239"/>
                </a:solidFill>
              </a:rPr>
              <a:t>−0.3x vs 3.2x plan</a:t>
            </a:r>
          </a:p>
          <a:p>
            <a:pPr>
              <a:spcAft>
                <a:spcPts val="400"/>
              </a:spcAft>
            </a:pPr>
            <a:r>
              <a:rPr sz="1400" b="0">
                <a:solidFill>
                  <a:srgbClr val="112239"/>
                </a:solidFill>
              </a:rPr>
              <a:t>Closed 40% of its gap to plan</a:t>
            </a:r>
          </a:p>
        </p:txBody>
      </p:sp>
      <p:sp>
        <p:nvSpPr>
          <p:cNvPr id="14" name="Decision request"/>
          <p:cNvSpPr txBox="1"/>
          <p:nvPr/>
        </p:nvSpPr>
        <p:spPr>
          <a:xfrm>
            <a:off x="548640" y="4434840"/>
            <a:ext cx="11091672" cy="868680"/>
          </a:xfrm>
          <a:prstGeom prst="rect">
            <a:avLst/>
          </a:prstGeom>
          <a:solidFill>
            <a:srgbClr val="F1F5F9"/>
          </a:solidFill>
        </p:spPr>
        <p:txBody>
          <a:bodyPr wrap="square" anchor="t" lIns="73152" rIns="73152">
            <a:spAutoFit/>
          </a:bodyPr>
          <a:lstStyle/>
          <a:p>
            <a:pPr>
              <a:spcAft>
                <a:spcPts val="400"/>
              </a:spcAft>
            </a:pPr>
            <a:r>
              <a:rPr sz="1600" b="1">
                <a:solidFill>
                  <a:srgbClr val="006B66"/>
                </a:solidFill>
              </a:rPr>
              <a:t>Decision requested: </a:t>
            </a:r>
            <a:r>
              <a:rPr sz="1600" b="1">
                <a:solidFill>
                  <a:srgbClr val="112239"/>
                </a:solidFill>
              </a:rPr>
              <a:t>do not assume Q3 plan recovery until pipeline-stage, retention, and scenario evidence is reviewed.</a:t>
            </a:r>
          </a:p>
          <a:p>
            <a:pPr>
              <a:spcAft>
                <a:spcPts val="400"/>
              </a:spcAft>
            </a:pPr>
            <a:r>
              <a:rPr sz="1400" b="0">
                <a:solidFill>
                  <a:srgbClr val="475467"/>
                </a:solidFill>
              </a:rPr>
              <a:t>Three evidence requests with owners are on slide 7.</a:t>
            </a:r>
          </a:p>
        </p:txBody>
      </p:sp>
      <p:sp>
        <p:nvSpPr>
          <p:cNvPr id="15" name="Top bar">
            <a:extLst>
              <a:ext uri="{C183D7F6-B498-43B3-948B-1728B52AA6E4}">
                <adec:decorative xmlns:adec="http://schemas.microsoft.com/office/drawing/2017/decorative" val="1"/>
              </a:ext>
            </a:extLst>
          </p:cNvPr>
          <p:cNvSpPr/>
          <p:nvPr/>
        </p:nvSpPr>
        <p:spPr>
          <a:xfrm>
            <a:off x="0" y="0"/>
            <a:ext cx="12191695" cy="91440"/>
          </a:xfrm>
          <a:prstGeom prst="rect">
            <a:avLst/>
          </a:prstGeom>
          <a:solidFill>
            <a:srgbClr val="006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ooter rule">
            <a:extLst>
              <a:ext uri="{C183D7F6-B498-43B3-948B-1728B52AA6E4}">
                <adec:decorative xmlns:adec="http://schemas.microsoft.com/office/drawing/2017/decorative" val="1"/>
              </a:ext>
            </a:extLst>
          </p:cNvPr>
          <p:cNvSpPr/>
          <p:nvPr/>
        </p:nvSpPr>
        <p:spPr>
          <a:xfrm>
            <a:off x="548640" y="6355080"/>
            <a:ext cx="11091672" cy="9144"/>
          </a:xfrm>
          <a:prstGeom prst="rect">
            <a:avLst/>
          </a:prstGeom>
          <a:solidFill>
            <a:srgbClr val="D0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isclosure"/>
          <p:cNvSpPr txBox="1"/>
          <p:nvPr/>
        </p:nvSpPr>
        <p:spPr>
          <a:xfrm>
            <a:off x="548640" y="6382512"/>
            <a:ext cx="9601200" cy="310896"/>
          </a:xfrm>
          <a:prstGeom prst="rect">
            <a:avLst/>
          </a:prstGeom>
          <a:noFill/>
        </p:spPr>
        <p:txBody>
          <a:bodyPr wrap="square" anchor="t" lIns="73152" rIns="73152">
            <a:spAutoFit/>
          </a:bodyPr>
          <a:lstStyle/>
          <a:p>
            <a:pPr>
              <a:spcAft>
                <a:spcPts val="400"/>
              </a:spcAft>
            </a:pPr>
            <a:r>
              <a:rPr sz="1200" b="0">
                <a:solidFill>
                  <a:srgbClr val="475467"/>
                </a:solidFill>
              </a:rPr>
              <a:t>Synthetic data. Northstar Cloud is a fictional company. Illustrative portfolio case.</a:t>
            </a:r>
          </a:p>
        </p:txBody>
      </p:sp>
      <p:sp>
        <p:nvSpPr>
          <p:cNvPr id="18" name="Page number"/>
          <p:cNvSpPr txBox="1"/>
          <p:nvPr/>
        </p:nvSpPr>
        <p:spPr>
          <a:xfrm>
            <a:off x="11018520" y="6382512"/>
            <a:ext cx="640080" cy="310896"/>
          </a:xfrm>
          <a:prstGeom prst="rect">
            <a:avLst/>
          </a:prstGeom>
          <a:noFill/>
        </p:spPr>
        <p:txBody>
          <a:bodyPr wrap="square" anchor="t" lIns="73152" rIns="73152">
            <a:spAutoFit/>
          </a:bodyPr>
          <a:lstStyle/>
          <a:p>
            <a:pPr>
              <a:spcAft>
                <a:spcPts val="400"/>
              </a:spcAft>
            </a:pPr>
            <a:r>
              <a:rPr sz="1200" b="0">
                <a:solidFill>
                  <a:srgbClr val="475467"/>
                </a:solidFil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48640" y="502920"/>
            <a:ext cx="11064240" cy="1024128"/>
          </a:xfrm>
        </p:spPr>
        <p:txBody>
          <a:bodyPr wrap="square" anchor="t" lIns="73152"/>
          <a:lstStyle/>
          <a:p>
            <a:pPr algn="l"/>
            <a:r>
              <a:rPr sz="2600" b="1">
                <a:solidFill>
                  <a:srgbClr val="112239"/>
                </a:solidFill>
                <a:latin typeface="Calibri"/>
              </a:rPr>
              <a:t>Growth is real but slower than planned, and the forward indicators are short of plan</a:t>
            </a:r>
          </a:p>
        </p:txBody>
      </p:sp>
      <p:sp>
        <p:nvSpPr>
          <p:cNvPr id="3" name="Header"/>
          <p:cNvSpPr txBox="1"/>
          <p:nvPr/>
        </p:nvSpPr>
        <p:spPr>
          <a:xfrm>
            <a:off x="548640" y="201168"/>
            <a:ext cx="8229600" cy="292608"/>
          </a:xfrm>
          <a:prstGeom prst="rect">
            <a:avLst/>
          </a:prstGeom>
          <a:noFill/>
        </p:spPr>
        <p:txBody>
          <a:bodyPr wrap="square" anchor="t" lIns="73152" rIns="73152">
            <a:spAutoFit/>
          </a:bodyPr>
          <a:lstStyle/>
          <a:p>
            <a:pPr>
              <a:spcAft>
                <a:spcPts val="400"/>
              </a:spcAft>
            </a:pPr>
            <a:r>
              <a:rPr sz="1100" b="1">
                <a:solidFill>
                  <a:srgbClr val="006B66"/>
                </a:solidFill>
              </a:rPr>
              <a:t>NORTHSTAR CLOUD  /  Q2 2026 BUSINESS REVIEW</a:t>
            </a:r>
          </a:p>
        </p:txBody>
      </p:sp>
      <p:sp>
        <p:nvSpPr>
          <p:cNvPr id="4" name="Subtitle"/>
          <p:cNvSpPr txBox="1"/>
          <p:nvPr/>
        </p:nvSpPr>
        <p:spPr>
          <a:xfrm>
            <a:off x="548640" y="1536192"/>
            <a:ext cx="11064240" cy="365760"/>
          </a:xfrm>
          <a:prstGeom prst="rect">
            <a:avLst/>
          </a:prstGeom>
          <a:noFill/>
        </p:spPr>
        <p:txBody>
          <a:bodyPr wrap="square" anchor="t" lIns="73152" rIns="73152">
            <a:spAutoFit/>
          </a:bodyPr>
          <a:lstStyle/>
          <a:p>
            <a:pPr>
              <a:spcAft>
                <a:spcPts val="400"/>
              </a:spcAft>
            </a:pPr>
            <a:r>
              <a:rPr sz="1400" b="0">
                <a:solidFill>
                  <a:srgbClr val="475467"/>
                </a:solidFill>
              </a:rPr>
              <a:t>Executive summary: three messages</a:t>
            </a:r>
          </a:p>
        </p:txBody>
      </p:sp>
      <p:sp>
        <p:nvSpPr>
          <p:cNvPr id="5" name="Message 1 panel">
            <a:extLst>
              <a:ext uri="{C183D7F6-B498-43B3-948B-1728B52AA6E4}">
                <adec:decorative xmlns:adec="http://schemas.microsoft.com/office/drawing/2017/decorative" val="1"/>
              </a:ext>
            </a:extLst>
          </p:cNvPr>
          <p:cNvSpPr/>
          <p:nvPr/>
        </p:nvSpPr>
        <p:spPr>
          <a:xfrm>
            <a:off x="548640" y="1965960"/>
            <a:ext cx="11091672" cy="10515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Message 1 heading"/>
          <p:cNvSpPr txBox="1"/>
          <p:nvPr/>
        </p:nvSpPr>
        <p:spPr>
          <a:xfrm>
            <a:off x="685800" y="2057400"/>
            <a:ext cx="3566160" cy="868680"/>
          </a:xfrm>
          <a:prstGeom prst="rect">
            <a:avLst/>
          </a:prstGeom>
          <a:noFill/>
        </p:spPr>
        <p:txBody>
          <a:bodyPr wrap="square" anchor="ctr" lIns="73152" rIns="73152">
            <a:spAutoFit/>
          </a:bodyPr>
          <a:lstStyle/>
          <a:p>
            <a:pPr>
              <a:spcAft>
                <a:spcPts val="400"/>
              </a:spcAft>
            </a:pPr>
            <a:r>
              <a:rPr sz="1600" b="1">
                <a:solidFill>
                  <a:srgbClr val="006B66"/>
                </a:solidFill>
              </a:rPr>
              <a:t>1  Growth is slower than planned</a:t>
            </a:r>
          </a:p>
        </p:txBody>
      </p:sp>
      <p:sp>
        <p:nvSpPr>
          <p:cNvPr id="7" name="Message 1 evidence"/>
          <p:cNvSpPr txBox="1"/>
          <p:nvPr/>
        </p:nvSpPr>
        <p:spPr>
          <a:xfrm>
            <a:off x="4343400" y="2057400"/>
            <a:ext cx="7178040" cy="868680"/>
          </a:xfrm>
          <a:prstGeom prst="rect">
            <a:avLst/>
          </a:prstGeom>
          <a:noFill/>
        </p:spPr>
        <p:txBody>
          <a:bodyPr wrap="square" anchor="ctr" lIns="73152" rIns="73152">
            <a:spAutoFit/>
          </a:bodyPr>
          <a:lstStyle/>
          <a:p>
            <a:pPr>
              <a:spcAft>
                <a:spcPts val="400"/>
              </a:spcAft>
            </a:pPr>
            <a:r>
              <a:rPr sz="1400" b="0">
                <a:solidFill>
                  <a:srgbClr val="112239"/>
                </a:solidFill>
              </a:rPr>
              <a:t>Revenue rose $0.6M (+14.3%) on Q1. The plan required +19.0%. Q2 delivered 75% of the planned increase.</a:t>
            </a:r>
          </a:p>
        </p:txBody>
      </p:sp>
      <p:sp>
        <p:nvSpPr>
          <p:cNvPr id="8" name="Message 2 panel">
            <a:extLst>
              <a:ext uri="{C183D7F6-B498-43B3-948B-1728B52AA6E4}">
                <adec:decorative xmlns:adec="http://schemas.microsoft.com/office/drawing/2017/decorative" val="1"/>
              </a:ext>
            </a:extLst>
          </p:cNvPr>
          <p:cNvSpPr/>
          <p:nvPr/>
        </p:nvSpPr>
        <p:spPr>
          <a:xfrm>
            <a:off x="548640" y="3172968"/>
            <a:ext cx="11091672" cy="10515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Message 2 heading"/>
          <p:cNvSpPr txBox="1"/>
          <p:nvPr/>
        </p:nvSpPr>
        <p:spPr>
          <a:xfrm>
            <a:off x="685800" y="3264408"/>
            <a:ext cx="3566160" cy="868680"/>
          </a:xfrm>
          <a:prstGeom prst="rect">
            <a:avLst/>
          </a:prstGeom>
          <a:noFill/>
        </p:spPr>
        <p:txBody>
          <a:bodyPr wrap="square" anchor="ctr" lIns="73152" rIns="73152">
            <a:spAutoFit/>
          </a:bodyPr>
          <a:lstStyle/>
          <a:p>
            <a:pPr>
              <a:spcAft>
                <a:spcPts val="400"/>
              </a:spcAft>
            </a:pPr>
            <a:r>
              <a:rPr sz="1600" b="1">
                <a:solidFill>
                  <a:srgbClr val="006B66"/>
                </a:solidFill>
              </a:rPr>
              <a:t>2  Margin beat plan; gross-profit dollars did not</a:t>
            </a:r>
          </a:p>
        </p:txBody>
      </p:sp>
      <p:sp>
        <p:nvSpPr>
          <p:cNvPr id="10" name="Message 2 evidence"/>
          <p:cNvSpPr txBox="1"/>
          <p:nvPr/>
        </p:nvSpPr>
        <p:spPr>
          <a:xfrm>
            <a:off x="4343400" y="3264408"/>
            <a:ext cx="7178040" cy="868680"/>
          </a:xfrm>
          <a:prstGeom prst="rect">
            <a:avLst/>
          </a:prstGeom>
          <a:noFill/>
        </p:spPr>
        <p:txBody>
          <a:bodyPr wrap="square" anchor="ctr" lIns="73152" rIns="73152">
            <a:spAutoFit/>
          </a:bodyPr>
          <a:lstStyle/>
          <a:p>
            <a:pPr>
              <a:spcAft>
                <a:spcPts val="400"/>
              </a:spcAft>
            </a:pPr>
            <a:r>
              <a:rPr sz="1400" b="0">
                <a:solidFill>
                  <a:srgbClr val="112239"/>
                </a:solidFill>
              </a:rPr>
              <a:t>Gross margin was 1 pp ahead of plan. Implied gross profit was $0.10M below plan, because revenue fell short.</a:t>
            </a:r>
          </a:p>
        </p:txBody>
      </p:sp>
      <p:sp>
        <p:nvSpPr>
          <p:cNvPr id="11" name="Message 3 panel">
            <a:extLst>
              <a:ext uri="{C183D7F6-B498-43B3-948B-1728B52AA6E4}">
                <adec:decorative xmlns:adec="http://schemas.microsoft.com/office/drawing/2017/decorative" val="1"/>
              </a:ext>
            </a:extLst>
          </p:cNvPr>
          <p:cNvSpPr/>
          <p:nvPr/>
        </p:nvSpPr>
        <p:spPr>
          <a:xfrm>
            <a:off x="548640" y="4379976"/>
            <a:ext cx="11091672" cy="10515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Message 3 heading"/>
          <p:cNvSpPr txBox="1"/>
          <p:nvPr/>
        </p:nvSpPr>
        <p:spPr>
          <a:xfrm>
            <a:off x="685800" y="4471416"/>
            <a:ext cx="3566160" cy="868680"/>
          </a:xfrm>
          <a:prstGeom prst="rect">
            <a:avLst/>
          </a:prstGeom>
          <a:noFill/>
        </p:spPr>
        <p:txBody>
          <a:bodyPr wrap="square" anchor="ctr" lIns="73152" rIns="73152">
            <a:spAutoFit/>
          </a:bodyPr>
          <a:lstStyle/>
          <a:p>
            <a:pPr>
              <a:spcAft>
                <a:spcPts val="400"/>
              </a:spcAft>
            </a:pPr>
            <a:r>
              <a:rPr sz="1600" b="1">
                <a:solidFill>
                  <a:srgbClr val="006B66"/>
                </a:solidFill>
              </a:rPr>
              <a:t>3  Forward indicators are short of plan</a:t>
            </a:r>
          </a:p>
        </p:txBody>
      </p:sp>
      <p:sp>
        <p:nvSpPr>
          <p:cNvPr id="13" name="Message 3 evidence"/>
          <p:cNvSpPr txBox="1"/>
          <p:nvPr/>
        </p:nvSpPr>
        <p:spPr>
          <a:xfrm>
            <a:off x="4343400" y="4471416"/>
            <a:ext cx="7178040" cy="868680"/>
          </a:xfrm>
          <a:prstGeom prst="rect">
            <a:avLst/>
          </a:prstGeom>
          <a:noFill/>
        </p:spPr>
        <p:txBody>
          <a:bodyPr wrap="square" anchor="ctr" lIns="73152" rIns="73152">
            <a:spAutoFit/>
          </a:bodyPr>
          <a:lstStyle/>
          <a:p>
            <a:pPr>
              <a:spcAft>
                <a:spcPts val="400"/>
              </a:spcAft>
            </a:pPr>
            <a:r>
              <a:rPr sz="1400" b="0">
                <a:solidFill>
                  <a:srgbClr val="112239"/>
                </a:solidFill>
              </a:rPr>
              <a:t>Pipeline coverage closed 40% of its gap to plan. Net revenue retention was 108% against a 110% plan.</a:t>
            </a:r>
          </a:p>
        </p:txBody>
      </p:sp>
      <p:sp>
        <p:nvSpPr>
          <p:cNvPr id="14" name="Evidence boundary"/>
          <p:cNvSpPr txBox="1"/>
          <p:nvPr/>
        </p:nvSpPr>
        <p:spPr>
          <a:xfrm>
            <a:off x="548640" y="5669280"/>
            <a:ext cx="11064240" cy="548640"/>
          </a:xfrm>
          <a:prstGeom prst="rect">
            <a:avLst/>
          </a:prstGeom>
          <a:noFill/>
        </p:spPr>
        <p:txBody>
          <a:bodyPr wrap="square" anchor="t" lIns="73152" rIns="73152">
            <a:spAutoFit/>
          </a:bodyPr>
          <a:lstStyle/>
          <a:p>
            <a:pPr>
              <a:spcAft>
                <a:spcPts val="400"/>
              </a:spcAft>
            </a:pPr>
            <a:r>
              <a:rPr sz="1300" b="0">
                <a:solidFill>
                  <a:srgbClr val="475467"/>
                </a:solidFill>
              </a:rPr>
              <a:t>No metric in this deck establishes a cause. Drivers are hypotheses until segment and pipeline data are reviewed.</a:t>
            </a:r>
          </a:p>
        </p:txBody>
      </p:sp>
      <p:sp>
        <p:nvSpPr>
          <p:cNvPr id="15" name="Top bar">
            <a:extLst>
              <a:ext uri="{C183D7F6-B498-43B3-948B-1728B52AA6E4}">
                <adec:decorative xmlns:adec="http://schemas.microsoft.com/office/drawing/2017/decorative" val="1"/>
              </a:ext>
            </a:extLst>
          </p:cNvPr>
          <p:cNvSpPr/>
          <p:nvPr/>
        </p:nvSpPr>
        <p:spPr>
          <a:xfrm>
            <a:off x="0" y="0"/>
            <a:ext cx="12191695" cy="91440"/>
          </a:xfrm>
          <a:prstGeom prst="rect">
            <a:avLst/>
          </a:prstGeom>
          <a:solidFill>
            <a:srgbClr val="006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ooter rule">
            <a:extLst>
              <a:ext uri="{C183D7F6-B498-43B3-948B-1728B52AA6E4}">
                <adec:decorative xmlns:adec="http://schemas.microsoft.com/office/drawing/2017/decorative" val="1"/>
              </a:ext>
            </a:extLst>
          </p:cNvPr>
          <p:cNvSpPr/>
          <p:nvPr/>
        </p:nvSpPr>
        <p:spPr>
          <a:xfrm>
            <a:off x="548640" y="6355080"/>
            <a:ext cx="11091672" cy="9144"/>
          </a:xfrm>
          <a:prstGeom prst="rect">
            <a:avLst/>
          </a:prstGeom>
          <a:solidFill>
            <a:srgbClr val="D0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isclosure"/>
          <p:cNvSpPr txBox="1"/>
          <p:nvPr/>
        </p:nvSpPr>
        <p:spPr>
          <a:xfrm>
            <a:off x="548640" y="6382512"/>
            <a:ext cx="9601200" cy="310896"/>
          </a:xfrm>
          <a:prstGeom prst="rect">
            <a:avLst/>
          </a:prstGeom>
          <a:noFill/>
        </p:spPr>
        <p:txBody>
          <a:bodyPr wrap="square" anchor="t" lIns="73152" rIns="73152">
            <a:spAutoFit/>
          </a:bodyPr>
          <a:lstStyle/>
          <a:p>
            <a:pPr>
              <a:spcAft>
                <a:spcPts val="400"/>
              </a:spcAft>
            </a:pPr>
            <a:r>
              <a:rPr sz="1200" b="0">
                <a:solidFill>
                  <a:srgbClr val="475467"/>
                </a:solidFill>
              </a:rPr>
              <a:t>Synthetic data. Northstar Cloud is a fictional company. Illustrative portfolio case.</a:t>
            </a:r>
          </a:p>
        </p:txBody>
      </p:sp>
      <p:sp>
        <p:nvSpPr>
          <p:cNvPr id="18" name="Page number"/>
          <p:cNvSpPr txBox="1"/>
          <p:nvPr/>
        </p:nvSpPr>
        <p:spPr>
          <a:xfrm>
            <a:off x="11018520" y="6382512"/>
            <a:ext cx="640080" cy="310896"/>
          </a:xfrm>
          <a:prstGeom prst="rect">
            <a:avLst/>
          </a:prstGeom>
          <a:noFill/>
        </p:spPr>
        <p:txBody>
          <a:bodyPr wrap="square" anchor="t" lIns="73152" rIns="73152">
            <a:spAutoFit/>
          </a:bodyPr>
          <a:lstStyle/>
          <a:p>
            <a:pPr>
              <a:spcAft>
                <a:spcPts val="400"/>
              </a:spcAft>
            </a:pPr>
            <a:r>
              <a:rPr sz="1200" b="0">
                <a:solidFill>
                  <a:srgbClr val="475467"/>
                </a:solidFil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48640" y="502920"/>
            <a:ext cx="11064240" cy="1024128"/>
          </a:xfrm>
        </p:spPr>
        <p:txBody>
          <a:bodyPr wrap="square" anchor="t" lIns="73152"/>
          <a:lstStyle/>
          <a:p>
            <a:pPr algn="l"/>
            <a:r>
              <a:rPr sz="2600" b="1">
                <a:solidFill>
                  <a:srgbClr val="112239"/>
                </a:solidFill>
                <a:latin typeface="Calibri"/>
              </a:rPr>
              <a:t>Revenue grew $0.6M but finished $0.2M (−4.0%) below plan</a:t>
            </a:r>
          </a:p>
        </p:txBody>
      </p:sp>
      <p:sp>
        <p:nvSpPr>
          <p:cNvPr id="3" name="Header"/>
          <p:cNvSpPr txBox="1"/>
          <p:nvPr/>
        </p:nvSpPr>
        <p:spPr>
          <a:xfrm>
            <a:off x="548640" y="201168"/>
            <a:ext cx="8229600" cy="292608"/>
          </a:xfrm>
          <a:prstGeom prst="rect">
            <a:avLst/>
          </a:prstGeom>
          <a:noFill/>
        </p:spPr>
        <p:txBody>
          <a:bodyPr wrap="square" anchor="t" lIns="73152" rIns="73152">
            <a:spAutoFit/>
          </a:bodyPr>
          <a:lstStyle/>
          <a:p>
            <a:pPr>
              <a:spcAft>
                <a:spcPts val="400"/>
              </a:spcAft>
            </a:pPr>
            <a:r>
              <a:rPr sz="1100" b="1">
                <a:solidFill>
                  <a:srgbClr val="006B66"/>
                </a:solidFill>
              </a:rPr>
              <a:t>NORTHSTAR CLOUD  /  Q2 2026 BUSINESS REVIEW</a:t>
            </a:r>
          </a:p>
        </p:txBody>
      </p:sp>
      <p:sp>
        <p:nvSpPr>
          <p:cNvPr id="4" name="Subtitle"/>
          <p:cNvSpPr txBox="1"/>
          <p:nvPr/>
        </p:nvSpPr>
        <p:spPr>
          <a:xfrm>
            <a:off x="548640" y="1536192"/>
            <a:ext cx="11064240" cy="365760"/>
          </a:xfrm>
          <a:prstGeom prst="rect">
            <a:avLst/>
          </a:prstGeom>
          <a:noFill/>
        </p:spPr>
        <p:txBody>
          <a:bodyPr wrap="square" anchor="t" lIns="73152" rIns="73152">
            <a:spAutoFit/>
          </a:bodyPr>
          <a:lstStyle/>
          <a:p>
            <a:pPr>
              <a:spcAft>
                <a:spcPts val="400"/>
              </a:spcAft>
            </a:pPr>
            <a:r>
              <a:rPr sz="1400" b="0">
                <a:solidFill>
                  <a:srgbClr val="475467"/>
                </a:solidFill>
              </a:rPr>
              <a:t>Revenue, USD millions</a:t>
            </a:r>
          </a:p>
        </p:txBody>
      </p:sp>
      <p:graphicFrame>
        <p:nvGraphicFramePr>
          <p:cNvPr id="5" name="Revenue chart" descr="Column chart of revenue in USD millions: Q1 2026 actual 4.2, Q2 2026 plan 5.0, Q2 2026 actual 4.8. Axis starts at zero."/>
          <p:cNvGraphicFramePr>
            <a:graphicFrameLocks noGrp="1"/>
          </p:cNvGraphicFramePr>
          <p:nvPr/>
        </p:nvGraphicFramePr>
        <p:xfrm>
          <a:off x="548640" y="1874519"/>
          <a:ext cx="6766560" cy="4343400"/>
        </p:xfrm>
        <a:graphic>
          <a:graphicData uri="http://schemas.openxmlformats.org/drawingml/2006/chart">
            <c:chart xmlns:c="http://schemas.openxmlformats.org/drawingml/2006/chart" r:id="rId2"/>
          </a:graphicData>
        </a:graphic>
      </p:graphicFrame>
      <p:sp>
        <p:nvSpPr>
          <p:cNvPr id="6" name="Revenue facts panel">
            <a:extLst>
              <a:ext uri="{C183D7F6-B498-43B3-948B-1728B52AA6E4}">
                <adec:decorative xmlns:adec="http://schemas.microsoft.com/office/drawing/2017/decorative" val="1"/>
              </a:ext>
            </a:extLst>
          </p:cNvPr>
          <p:cNvSpPr/>
          <p:nvPr/>
        </p:nvSpPr>
        <p:spPr>
          <a:xfrm>
            <a:off x="7589520" y="1965960"/>
            <a:ext cx="4050791" cy="416052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venue facts"/>
          <p:cNvSpPr txBox="1"/>
          <p:nvPr/>
        </p:nvSpPr>
        <p:spPr>
          <a:xfrm>
            <a:off x="7726679" y="2057400"/>
            <a:ext cx="3794760" cy="4023360"/>
          </a:xfrm>
          <a:prstGeom prst="rect">
            <a:avLst/>
          </a:prstGeom>
          <a:noFill/>
        </p:spPr>
        <p:txBody>
          <a:bodyPr wrap="square" anchor="t" lIns="73152" rIns="73152">
            <a:spAutoFit/>
          </a:bodyPr>
          <a:lstStyle/>
          <a:p>
            <a:pPr>
              <a:spcAft>
                <a:spcPts val="400"/>
              </a:spcAft>
            </a:pPr>
            <a:r>
              <a:rPr sz="1200" b="1">
                <a:solidFill>
                  <a:srgbClr val="475467"/>
                </a:solidFill>
              </a:rPr>
              <a:t>PLAN ATTAINMENT</a:t>
            </a:r>
          </a:p>
          <a:p>
            <a:pPr>
              <a:spcAft>
                <a:spcPts val="400"/>
              </a:spcAft>
            </a:pPr>
            <a:r>
              <a:rPr sz="3200" b="1">
                <a:solidFill>
                  <a:srgbClr val="112239"/>
                </a:solidFill>
              </a:rPr>
              <a:t>96.0%</a:t>
            </a:r>
          </a:p>
          <a:p>
            <a:pPr>
              <a:spcAft>
                <a:spcPts val="400"/>
              </a:spcAft>
            </a:pPr>
            <a:r>
              <a:rPr sz="1200" b="1">
                <a:solidFill>
                  <a:srgbClr val="475467"/>
                </a:solidFill>
              </a:rPr>
              <a:t>GROWTH REQUIRED BY PLAN</a:t>
            </a:r>
          </a:p>
          <a:p>
            <a:pPr>
              <a:spcAft>
                <a:spcPts val="400"/>
              </a:spcAft>
            </a:pPr>
            <a:r>
              <a:rPr sz="2000" b="1">
                <a:solidFill>
                  <a:srgbClr val="112239"/>
                </a:solidFill>
              </a:rPr>
              <a:t>+19.0% on Q1</a:t>
            </a:r>
          </a:p>
          <a:p>
            <a:pPr>
              <a:spcAft>
                <a:spcPts val="400"/>
              </a:spcAft>
            </a:pPr>
            <a:r>
              <a:rPr sz="1200" b="1">
                <a:solidFill>
                  <a:srgbClr val="475467"/>
                </a:solidFill>
              </a:rPr>
              <a:t>GROWTH DELIVERED</a:t>
            </a:r>
          </a:p>
          <a:p>
            <a:pPr>
              <a:spcAft>
                <a:spcPts val="400"/>
              </a:spcAft>
            </a:pPr>
            <a:r>
              <a:rPr sz="2000" b="1">
                <a:solidFill>
                  <a:srgbClr val="112239"/>
                </a:solidFill>
              </a:rPr>
              <a:t>+14.3% on Q1</a:t>
            </a:r>
          </a:p>
          <a:p>
            <a:pPr>
              <a:spcAft>
                <a:spcPts val="400"/>
              </a:spcAft>
            </a:pPr>
            <a:r>
              <a:rPr sz="1300" b="0">
                <a:solidFill>
                  <a:srgbClr val="112239"/>
                </a:solidFill>
              </a:rPr>
              <a:t>Q2 delivered 75% of the planned increase. The miss is a smaller gain, not a decline.</a:t>
            </a:r>
          </a:p>
        </p:txBody>
      </p:sp>
      <p:sp>
        <p:nvSpPr>
          <p:cNvPr id="8" name="Top bar">
            <a:extLst>
              <a:ext uri="{C183D7F6-B498-43B3-948B-1728B52AA6E4}">
                <adec:decorative xmlns:adec="http://schemas.microsoft.com/office/drawing/2017/decorative" val="1"/>
              </a:ext>
            </a:extLst>
          </p:cNvPr>
          <p:cNvSpPr/>
          <p:nvPr/>
        </p:nvSpPr>
        <p:spPr>
          <a:xfrm>
            <a:off x="0" y="0"/>
            <a:ext cx="12191695" cy="91440"/>
          </a:xfrm>
          <a:prstGeom prst="rect">
            <a:avLst/>
          </a:prstGeom>
          <a:solidFill>
            <a:srgbClr val="006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ooter rule">
            <a:extLst>
              <a:ext uri="{C183D7F6-B498-43B3-948B-1728B52AA6E4}">
                <adec:decorative xmlns:adec="http://schemas.microsoft.com/office/drawing/2017/decorative" val="1"/>
              </a:ext>
            </a:extLst>
          </p:cNvPr>
          <p:cNvSpPr/>
          <p:nvPr/>
        </p:nvSpPr>
        <p:spPr>
          <a:xfrm>
            <a:off x="548640" y="6355080"/>
            <a:ext cx="11091672" cy="9144"/>
          </a:xfrm>
          <a:prstGeom prst="rect">
            <a:avLst/>
          </a:prstGeom>
          <a:solidFill>
            <a:srgbClr val="D0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isclosure"/>
          <p:cNvSpPr txBox="1"/>
          <p:nvPr/>
        </p:nvSpPr>
        <p:spPr>
          <a:xfrm>
            <a:off x="548640" y="6382512"/>
            <a:ext cx="9601200" cy="310896"/>
          </a:xfrm>
          <a:prstGeom prst="rect">
            <a:avLst/>
          </a:prstGeom>
          <a:noFill/>
        </p:spPr>
        <p:txBody>
          <a:bodyPr wrap="square" anchor="t" lIns="73152" rIns="73152">
            <a:spAutoFit/>
          </a:bodyPr>
          <a:lstStyle/>
          <a:p>
            <a:pPr>
              <a:spcAft>
                <a:spcPts val="400"/>
              </a:spcAft>
            </a:pPr>
            <a:r>
              <a:rPr sz="1200" b="0">
                <a:solidFill>
                  <a:srgbClr val="475467"/>
                </a:solidFill>
              </a:rPr>
              <a:t>Synthetic data. Northstar Cloud is a fictional company. Illustrative portfolio case.</a:t>
            </a:r>
          </a:p>
        </p:txBody>
      </p:sp>
      <p:sp>
        <p:nvSpPr>
          <p:cNvPr id="11" name="Page number"/>
          <p:cNvSpPr txBox="1"/>
          <p:nvPr/>
        </p:nvSpPr>
        <p:spPr>
          <a:xfrm>
            <a:off x="11018520" y="6382512"/>
            <a:ext cx="640080" cy="310896"/>
          </a:xfrm>
          <a:prstGeom prst="rect">
            <a:avLst/>
          </a:prstGeom>
          <a:noFill/>
        </p:spPr>
        <p:txBody>
          <a:bodyPr wrap="square" anchor="t" lIns="73152" rIns="73152">
            <a:spAutoFit/>
          </a:bodyPr>
          <a:lstStyle/>
          <a:p>
            <a:pPr>
              <a:spcAft>
                <a:spcPts val="400"/>
              </a:spcAft>
            </a:pPr>
            <a:r>
              <a:rPr sz="1200" b="0">
                <a:solidFill>
                  <a:srgbClr val="475467"/>
                </a:solidFil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48640" y="502920"/>
            <a:ext cx="11064240" cy="1024128"/>
          </a:xfrm>
        </p:spPr>
        <p:txBody>
          <a:bodyPr wrap="square" anchor="t" lIns="73152"/>
          <a:lstStyle/>
          <a:p>
            <a:pPr algn="l"/>
            <a:r>
              <a:rPr sz="2600" b="1">
                <a:solidFill>
                  <a:srgbClr val="112239"/>
                </a:solidFill>
                <a:latin typeface="Calibri"/>
              </a:rPr>
              <a:t>Margin beat plan, but implied gross profit was $0.10M below plan</a:t>
            </a:r>
          </a:p>
        </p:txBody>
      </p:sp>
      <p:sp>
        <p:nvSpPr>
          <p:cNvPr id="3" name="Header"/>
          <p:cNvSpPr txBox="1"/>
          <p:nvPr/>
        </p:nvSpPr>
        <p:spPr>
          <a:xfrm>
            <a:off x="548640" y="201168"/>
            <a:ext cx="8229600" cy="292608"/>
          </a:xfrm>
          <a:prstGeom prst="rect">
            <a:avLst/>
          </a:prstGeom>
          <a:noFill/>
        </p:spPr>
        <p:txBody>
          <a:bodyPr wrap="square" anchor="t" lIns="73152" rIns="73152">
            <a:spAutoFit/>
          </a:bodyPr>
          <a:lstStyle/>
          <a:p>
            <a:pPr>
              <a:spcAft>
                <a:spcPts val="400"/>
              </a:spcAft>
            </a:pPr>
            <a:r>
              <a:rPr sz="1100" b="1">
                <a:solidFill>
                  <a:srgbClr val="006B66"/>
                </a:solidFill>
              </a:rPr>
              <a:t>NORTHSTAR CLOUD  /  Q2 2026 BUSINESS REVIEW</a:t>
            </a:r>
          </a:p>
        </p:txBody>
      </p:sp>
      <p:sp>
        <p:nvSpPr>
          <p:cNvPr id="4" name="Subtitle"/>
          <p:cNvSpPr txBox="1"/>
          <p:nvPr/>
        </p:nvSpPr>
        <p:spPr>
          <a:xfrm>
            <a:off x="548640" y="1536192"/>
            <a:ext cx="11064240" cy="365760"/>
          </a:xfrm>
          <a:prstGeom prst="rect">
            <a:avLst/>
          </a:prstGeom>
          <a:noFill/>
        </p:spPr>
        <p:txBody>
          <a:bodyPr wrap="square" anchor="t" lIns="73152" rIns="73152">
            <a:spAutoFit/>
          </a:bodyPr>
          <a:lstStyle/>
          <a:p>
            <a:pPr>
              <a:spcAft>
                <a:spcPts val="400"/>
              </a:spcAft>
            </a:pPr>
            <a:r>
              <a:rPr sz="1400" b="0">
                <a:solidFill>
                  <a:srgbClr val="475467"/>
                </a:solidFill>
              </a:rPr>
              <a:t>Implied gross profit bridge from Q2 2026 plan to Q2 2026 actual, USD millions</a:t>
            </a:r>
          </a:p>
        </p:txBody>
      </p:sp>
      <p:graphicFrame>
        <p:nvGraphicFramePr>
          <p:cNvPr id="5" name="Gross profit bridge chart" descr="Waterfall chart of implied gross profit in USD millions, axis from zero: Q2 2026 plan 3.65; revenue below plan at plan margin minus 0.15; gross margin above plan plus 0.05; Q2 2026 actual 3.55."/>
          <p:cNvGraphicFramePr>
            <a:graphicFrameLocks noGrp="1"/>
          </p:cNvGraphicFramePr>
          <p:nvPr/>
        </p:nvGraphicFramePr>
        <p:xfrm>
          <a:off x="548640" y="2011680"/>
          <a:ext cx="7040880" cy="3246120"/>
        </p:xfrm>
        <a:graphic>
          <a:graphicData uri="http://schemas.openxmlformats.org/drawingml/2006/chart">
            <c:chart xmlns:c="http://schemas.openxmlformats.org/drawingml/2006/chart" r:id="rId2"/>
          </a:graphicData>
        </a:graphic>
      </p:graphicFrame>
      <p:sp>
        <p:nvSpPr>
          <p:cNvPr id="6" name="Bridge label 1"/>
          <p:cNvSpPr txBox="1"/>
          <p:nvPr/>
        </p:nvSpPr>
        <p:spPr>
          <a:xfrm>
            <a:off x="711403" y="2258190"/>
            <a:ext cx="1645920" cy="347472"/>
          </a:xfrm>
          <a:prstGeom prst="rect">
            <a:avLst/>
          </a:prstGeom>
          <a:noFill/>
        </p:spPr>
        <p:txBody>
          <a:bodyPr wrap="square" anchor="t" lIns="73152" rIns="73152">
            <a:spAutoFit/>
          </a:bodyPr>
          <a:lstStyle/>
          <a:p>
            <a:pPr algn="ctr">
              <a:spcAft>
                <a:spcPts val="400"/>
              </a:spcAft>
            </a:pPr>
            <a:r>
              <a:rPr sz="1600" b="1">
                <a:solidFill>
                  <a:srgbClr val="112239"/>
                </a:solidFill>
              </a:rPr>
              <a:t>$3.65M</a:t>
            </a:r>
          </a:p>
        </p:txBody>
      </p:sp>
      <p:sp>
        <p:nvSpPr>
          <p:cNvPr id="7" name="Bridge label 2"/>
          <p:cNvSpPr txBox="1"/>
          <p:nvPr/>
        </p:nvSpPr>
        <p:spPr>
          <a:xfrm>
            <a:off x="2401214" y="2258190"/>
            <a:ext cx="1645920" cy="347472"/>
          </a:xfrm>
          <a:prstGeom prst="rect">
            <a:avLst/>
          </a:prstGeom>
          <a:noFill/>
        </p:spPr>
        <p:txBody>
          <a:bodyPr wrap="square" anchor="t" lIns="73152" rIns="73152">
            <a:spAutoFit/>
          </a:bodyPr>
          <a:lstStyle/>
          <a:p>
            <a:pPr algn="ctr">
              <a:spcAft>
                <a:spcPts val="400"/>
              </a:spcAft>
            </a:pPr>
            <a:r>
              <a:rPr sz="1600" b="1">
                <a:solidFill>
                  <a:srgbClr val="B42318"/>
                </a:solidFill>
              </a:rPr>
              <a:t>−$0.15M</a:t>
            </a:r>
          </a:p>
        </p:txBody>
      </p:sp>
      <p:sp>
        <p:nvSpPr>
          <p:cNvPr id="8" name="Bridge label 3"/>
          <p:cNvSpPr txBox="1"/>
          <p:nvPr/>
        </p:nvSpPr>
        <p:spPr>
          <a:xfrm>
            <a:off x="4091025" y="2307499"/>
            <a:ext cx="1645920" cy="347472"/>
          </a:xfrm>
          <a:prstGeom prst="rect">
            <a:avLst/>
          </a:prstGeom>
          <a:noFill/>
        </p:spPr>
        <p:txBody>
          <a:bodyPr wrap="square" anchor="t" lIns="73152" rIns="73152">
            <a:spAutoFit/>
          </a:bodyPr>
          <a:lstStyle/>
          <a:p>
            <a:pPr algn="ctr">
              <a:spcAft>
                <a:spcPts val="400"/>
              </a:spcAft>
            </a:pPr>
            <a:r>
              <a:rPr sz="1600" b="1">
                <a:solidFill>
                  <a:srgbClr val="027A48"/>
                </a:solidFill>
              </a:rPr>
              <a:t>+$0.05M</a:t>
            </a:r>
          </a:p>
        </p:txBody>
      </p:sp>
      <p:sp>
        <p:nvSpPr>
          <p:cNvPr id="9" name="Bridge label 4"/>
          <p:cNvSpPr txBox="1"/>
          <p:nvPr/>
        </p:nvSpPr>
        <p:spPr>
          <a:xfrm>
            <a:off x="5780836" y="2307499"/>
            <a:ext cx="1645920" cy="347472"/>
          </a:xfrm>
          <a:prstGeom prst="rect">
            <a:avLst/>
          </a:prstGeom>
          <a:noFill/>
        </p:spPr>
        <p:txBody>
          <a:bodyPr wrap="square" anchor="t" lIns="73152" rIns="73152">
            <a:spAutoFit/>
          </a:bodyPr>
          <a:lstStyle/>
          <a:p>
            <a:pPr algn="ctr">
              <a:spcAft>
                <a:spcPts val="400"/>
              </a:spcAft>
            </a:pPr>
            <a:r>
              <a:rPr sz="1600" b="1">
                <a:solidFill>
                  <a:srgbClr val="112239"/>
                </a:solidFill>
              </a:rPr>
              <a:t>$3.55M</a:t>
            </a:r>
          </a:p>
        </p:txBody>
      </p:sp>
      <p:cxnSp>
        <p:nvCxnSpPr>
          <p:cNvPr id="10" name="Bridge connector 1">
            <a:extLst>
              <a:ext uri="{C183D7F6-B498-43B3-948B-1728B52AA6E4}">
                <adec:decorative xmlns:adec="http://schemas.microsoft.com/office/drawing/2017/decorative" val="1"/>
              </a:ext>
            </a:extLst>
          </p:cNvPr>
          <p:cNvCxnSpPr/>
          <p:nvPr/>
        </p:nvCxnSpPr>
        <p:spPr>
          <a:xfrm>
            <a:off x="2079463" y="2642238"/>
            <a:ext cx="599611" cy="0"/>
          </a:xfrm>
          <a:prstGeom prst="line">
            <a:avLst/>
          </a:prstGeom>
          <a:ln w="12700">
            <a:solidFill>
              <a:srgbClr val="475467"/>
            </a:solidFill>
            <a:prstDash val="dash"/>
          </a:ln>
        </p:spPr>
        <p:style>
          <a:lnRef idx="2">
            <a:schemeClr val="accent1"/>
          </a:lnRef>
          <a:fillRef idx="0">
            <a:schemeClr val="accent1"/>
          </a:fillRef>
          <a:effectRef idx="1">
            <a:schemeClr val="accent1"/>
          </a:effectRef>
          <a:fontRef idx="minor">
            <a:schemeClr val="tx1"/>
          </a:fontRef>
        </p:style>
      </p:cxnSp>
      <p:cxnSp>
        <p:nvCxnSpPr>
          <p:cNvPr id="11" name="Bridge connector 2">
            <a:extLst>
              <a:ext uri="{C183D7F6-B498-43B3-948B-1728B52AA6E4}">
                <adec:decorative xmlns:adec="http://schemas.microsoft.com/office/drawing/2017/decorative" val="1"/>
              </a:ext>
            </a:extLst>
          </p:cNvPr>
          <p:cNvCxnSpPr/>
          <p:nvPr/>
        </p:nvCxnSpPr>
        <p:spPr>
          <a:xfrm>
            <a:off x="3769274" y="2715698"/>
            <a:ext cx="599611" cy="0"/>
          </a:xfrm>
          <a:prstGeom prst="line">
            <a:avLst/>
          </a:prstGeom>
          <a:ln w="12700">
            <a:solidFill>
              <a:srgbClr val="475467"/>
            </a:solidFill>
            <a:prstDash val="dash"/>
          </a:ln>
        </p:spPr>
        <p:style>
          <a:lnRef idx="2">
            <a:schemeClr val="accent1"/>
          </a:lnRef>
          <a:fillRef idx="0">
            <a:schemeClr val="accent1"/>
          </a:fillRef>
          <a:effectRef idx="1">
            <a:schemeClr val="accent1"/>
          </a:effectRef>
          <a:fontRef idx="minor">
            <a:schemeClr val="tx1"/>
          </a:fontRef>
        </p:style>
      </p:cxnSp>
      <p:cxnSp>
        <p:nvCxnSpPr>
          <p:cNvPr id="12" name="Bridge connector 3">
            <a:extLst>
              <a:ext uri="{C183D7F6-B498-43B3-948B-1728B52AA6E4}">
                <adec:decorative xmlns:adec="http://schemas.microsoft.com/office/drawing/2017/decorative" val="1"/>
              </a:ext>
            </a:extLst>
          </p:cNvPr>
          <p:cNvCxnSpPr/>
          <p:nvPr/>
        </p:nvCxnSpPr>
        <p:spPr>
          <a:xfrm>
            <a:off x="5459085" y="2691547"/>
            <a:ext cx="599611" cy="0"/>
          </a:xfrm>
          <a:prstGeom prst="line">
            <a:avLst/>
          </a:prstGeom>
          <a:ln w="12700">
            <a:solidFill>
              <a:srgbClr val="475467"/>
            </a:solidFill>
            <a:prstDash val="dash"/>
          </a:ln>
        </p:spPr>
        <p:style>
          <a:lnRef idx="2">
            <a:schemeClr val="accent1"/>
          </a:lnRef>
          <a:fillRef idx="0">
            <a:schemeClr val="accent1"/>
          </a:fillRef>
          <a:effectRef idx="1">
            <a:schemeClr val="accent1"/>
          </a:effectRef>
          <a:fontRef idx="minor">
            <a:schemeClr val="tx1"/>
          </a:fontRef>
        </p:style>
      </p:cxnSp>
      <p:sp>
        <p:nvSpPr>
          <p:cNvPr id="13" name="Gross profit facts panel">
            <a:extLst>
              <a:ext uri="{C183D7F6-B498-43B3-948B-1728B52AA6E4}">
                <adec:decorative xmlns:adec="http://schemas.microsoft.com/office/drawing/2017/decorative" val="1"/>
              </a:ext>
            </a:extLst>
          </p:cNvPr>
          <p:cNvSpPr/>
          <p:nvPr/>
        </p:nvSpPr>
        <p:spPr>
          <a:xfrm>
            <a:off x="7818120" y="2011680"/>
            <a:ext cx="3822191" cy="324612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Gross profit facts"/>
          <p:cNvSpPr txBox="1"/>
          <p:nvPr/>
        </p:nvSpPr>
        <p:spPr>
          <a:xfrm>
            <a:off x="7955279" y="2103120"/>
            <a:ext cx="3566160" cy="3108960"/>
          </a:xfrm>
          <a:prstGeom prst="rect">
            <a:avLst/>
          </a:prstGeom>
          <a:noFill/>
        </p:spPr>
        <p:txBody>
          <a:bodyPr wrap="square" anchor="t" lIns="73152" rIns="73152">
            <a:spAutoFit/>
          </a:bodyPr>
          <a:lstStyle/>
          <a:p>
            <a:pPr>
              <a:spcAft>
                <a:spcPts val="400"/>
              </a:spcAft>
            </a:pPr>
            <a:r>
              <a:rPr sz="1200" b="1">
                <a:solidFill>
                  <a:srgbClr val="475467"/>
                </a:solidFill>
              </a:rPr>
              <a:t>HOW TO READ THE BRIDGE</a:t>
            </a:r>
          </a:p>
          <a:p>
            <a:pPr>
              <a:spcAft>
                <a:spcPts val="400"/>
              </a:spcAft>
            </a:pPr>
            <a:r>
              <a:rPr sz="1400" b="0">
                <a:solidFill>
                  <a:srgbClr val="112239"/>
                </a:solidFill>
              </a:rPr>
              <a:t>Plan $3.65M, less the revenue shortfall at plan margin ($0.15M), plus the margin gain on actual revenue ($0.05M), gives actual $3.55M.</a:t>
            </a:r>
          </a:p>
          <a:p>
            <a:pPr>
              <a:spcAft>
                <a:spcPts val="400"/>
              </a:spcAft>
            </a:pPr>
            <a:r>
              <a:rPr sz="1400" b="0">
                <a:solidFill>
                  <a:srgbClr val="112239"/>
                </a:solidFill>
              </a:rPr>
              <a:t>Gross margin 74% vs 73% plan. Net variance −2.7% of plan gross profit.</a:t>
            </a:r>
          </a:p>
          <a:p>
            <a:pPr>
              <a:spcAft>
                <a:spcPts val="400"/>
              </a:spcAft>
            </a:pPr>
            <a:r>
              <a:rPr sz="1400" b="0">
                <a:solidFill>
                  <a:srgbClr val="475467"/>
                </a:solidFill>
              </a:rPr>
              <a:t>Q1 $3.02M (+17.5% in Q2).</a:t>
            </a:r>
          </a:p>
        </p:txBody>
      </p:sp>
      <p:sp>
        <p:nvSpPr>
          <p:cNvPr id="15" name="Assumption note"/>
          <p:cNvSpPr txBox="1"/>
          <p:nvPr/>
        </p:nvSpPr>
        <p:spPr>
          <a:xfrm>
            <a:off x="548640" y="5440680"/>
            <a:ext cx="11091672" cy="777240"/>
          </a:xfrm>
          <a:prstGeom prst="rect">
            <a:avLst/>
          </a:prstGeom>
          <a:solidFill>
            <a:srgbClr val="F1F5F9"/>
          </a:solidFill>
        </p:spPr>
        <p:txBody>
          <a:bodyPr wrap="square" anchor="t" lIns="73152" rIns="73152">
            <a:spAutoFit/>
          </a:bodyPr>
          <a:lstStyle/>
          <a:p>
            <a:pPr>
              <a:spcAft>
                <a:spcPts val="400"/>
              </a:spcAft>
            </a:pPr>
            <a:r>
              <a:rPr sz="1400" b="1">
                <a:solidFill>
                  <a:srgbClr val="B42318"/>
                </a:solidFill>
              </a:rPr>
              <a:t>Derived figure. </a:t>
            </a:r>
            <a:r>
              <a:rPr sz="1400" b="0">
                <a:solidFill>
                  <a:srgbClr val="112239"/>
                </a:solidFill>
              </a:rPr>
              <a:t>Implied gross profit = revenue × gross margin. The source does not state the gross-margin basis; these figures assume it applies to reported revenue. Operating cost and profit are not in the source. Axis starts at zero.</a:t>
            </a:r>
          </a:p>
        </p:txBody>
      </p:sp>
      <p:sp>
        <p:nvSpPr>
          <p:cNvPr id="16" name="Top bar">
            <a:extLst>
              <a:ext uri="{C183D7F6-B498-43B3-948B-1728B52AA6E4}">
                <adec:decorative xmlns:adec="http://schemas.microsoft.com/office/drawing/2017/decorative" val="1"/>
              </a:ext>
            </a:extLst>
          </p:cNvPr>
          <p:cNvSpPr/>
          <p:nvPr/>
        </p:nvSpPr>
        <p:spPr>
          <a:xfrm>
            <a:off x="0" y="0"/>
            <a:ext cx="12191695" cy="91440"/>
          </a:xfrm>
          <a:prstGeom prst="rect">
            <a:avLst/>
          </a:prstGeom>
          <a:solidFill>
            <a:srgbClr val="006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ooter rule">
            <a:extLst>
              <a:ext uri="{C183D7F6-B498-43B3-948B-1728B52AA6E4}">
                <adec:decorative xmlns:adec="http://schemas.microsoft.com/office/drawing/2017/decorative" val="1"/>
              </a:ext>
            </a:extLst>
          </p:cNvPr>
          <p:cNvSpPr/>
          <p:nvPr/>
        </p:nvSpPr>
        <p:spPr>
          <a:xfrm>
            <a:off x="548640" y="6355080"/>
            <a:ext cx="11091672" cy="9144"/>
          </a:xfrm>
          <a:prstGeom prst="rect">
            <a:avLst/>
          </a:prstGeom>
          <a:solidFill>
            <a:srgbClr val="D0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isclosure"/>
          <p:cNvSpPr txBox="1"/>
          <p:nvPr/>
        </p:nvSpPr>
        <p:spPr>
          <a:xfrm>
            <a:off x="548640" y="6382512"/>
            <a:ext cx="9601200" cy="310896"/>
          </a:xfrm>
          <a:prstGeom prst="rect">
            <a:avLst/>
          </a:prstGeom>
          <a:noFill/>
        </p:spPr>
        <p:txBody>
          <a:bodyPr wrap="square" anchor="t" lIns="73152" rIns="73152">
            <a:spAutoFit/>
          </a:bodyPr>
          <a:lstStyle/>
          <a:p>
            <a:pPr>
              <a:spcAft>
                <a:spcPts val="400"/>
              </a:spcAft>
            </a:pPr>
            <a:r>
              <a:rPr sz="1200" b="0">
                <a:solidFill>
                  <a:srgbClr val="475467"/>
                </a:solidFill>
              </a:rPr>
              <a:t>Synthetic data. Northstar Cloud is a fictional company. Illustrative portfolio case.</a:t>
            </a:r>
          </a:p>
        </p:txBody>
      </p:sp>
      <p:sp>
        <p:nvSpPr>
          <p:cNvPr id="19" name="Page number"/>
          <p:cNvSpPr txBox="1"/>
          <p:nvPr/>
        </p:nvSpPr>
        <p:spPr>
          <a:xfrm>
            <a:off x="11018520" y="6382512"/>
            <a:ext cx="640080" cy="310896"/>
          </a:xfrm>
          <a:prstGeom prst="rect">
            <a:avLst/>
          </a:prstGeom>
          <a:noFill/>
        </p:spPr>
        <p:txBody>
          <a:bodyPr wrap="square" anchor="t" lIns="73152" rIns="73152">
            <a:spAutoFit/>
          </a:bodyPr>
          <a:lstStyle/>
          <a:p>
            <a:pPr>
              <a:spcAft>
                <a:spcPts val="400"/>
              </a:spcAft>
            </a:pPr>
            <a:r>
              <a:rPr sz="1200" b="0">
                <a:solidFill>
                  <a:srgbClr val="475467"/>
                </a:solidFil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48640" y="502920"/>
            <a:ext cx="11064240" cy="1024128"/>
          </a:xfrm>
        </p:spPr>
        <p:txBody>
          <a:bodyPr wrap="square" anchor="t" lIns="73152"/>
          <a:lstStyle/>
          <a:p>
            <a:pPr algn="l"/>
            <a:r>
              <a:rPr sz="2600" b="1">
                <a:solidFill>
                  <a:srgbClr val="112239"/>
                </a:solidFill>
                <a:latin typeface="Calibri"/>
              </a:rPr>
              <a:t>Every metric improved on Q1, but only gross margin reached plan</a:t>
            </a:r>
          </a:p>
        </p:txBody>
      </p:sp>
      <p:sp>
        <p:nvSpPr>
          <p:cNvPr id="3" name="Header"/>
          <p:cNvSpPr txBox="1"/>
          <p:nvPr/>
        </p:nvSpPr>
        <p:spPr>
          <a:xfrm>
            <a:off x="548640" y="201168"/>
            <a:ext cx="8229600" cy="292608"/>
          </a:xfrm>
          <a:prstGeom prst="rect">
            <a:avLst/>
          </a:prstGeom>
          <a:noFill/>
        </p:spPr>
        <p:txBody>
          <a:bodyPr wrap="square" anchor="t" lIns="73152" rIns="73152">
            <a:spAutoFit/>
          </a:bodyPr>
          <a:lstStyle/>
          <a:p>
            <a:pPr>
              <a:spcAft>
                <a:spcPts val="400"/>
              </a:spcAft>
            </a:pPr>
            <a:r>
              <a:rPr sz="1100" b="1">
                <a:solidFill>
                  <a:srgbClr val="006B66"/>
                </a:solidFill>
              </a:rPr>
              <a:t>NORTHSTAR CLOUD  /  Q2 2026 BUSINESS REVIEW</a:t>
            </a:r>
          </a:p>
        </p:txBody>
      </p:sp>
      <p:sp>
        <p:nvSpPr>
          <p:cNvPr id="4" name="Subtitle"/>
          <p:cNvSpPr txBox="1"/>
          <p:nvPr/>
        </p:nvSpPr>
        <p:spPr>
          <a:xfrm>
            <a:off x="548640" y="1536192"/>
            <a:ext cx="11064240" cy="365760"/>
          </a:xfrm>
          <a:prstGeom prst="rect">
            <a:avLst/>
          </a:prstGeom>
          <a:noFill/>
        </p:spPr>
        <p:txBody>
          <a:bodyPr wrap="square" anchor="t" lIns="73152" rIns="73152">
            <a:spAutoFit/>
          </a:bodyPr>
          <a:lstStyle/>
          <a:p>
            <a:pPr>
              <a:spcAft>
                <a:spcPts val="400"/>
              </a:spcAft>
            </a:pPr>
            <a:r>
              <a:rPr sz="1400" b="0">
                <a:solidFill>
                  <a:srgbClr val="475467"/>
                </a:solidFill>
              </a:rPr>
              <a:t>Q2 2026 scorecard. Change and variance use the units of each metric (pp = percentage points)</a:t>
            </a:r>
          </a:p>
        </p:txBody>
      </p:sp>
      <p:graphicFrame>
        <p:nvGraphicFramePr>
          <p:cNvPr id="5" name="Scorecard table" descr="Scorecard table: seven metrics with Q1 actual, Q2 actual, Q2 plan, change versus Q1, variance versus plan, and status. Gross margin is ahead of plan; the other six are short of plan."/>
          <p:cNvGraphicFramePr>
            <a:graphicFrameLocks noGrp="1"/>
          </p:cNvGraphicFramePr>
          <p:nvPr/>
        </p:nvGraphicFramePr>
        <p:xfrm>
          <a:off x="548640" y="1874519"/>
          <a:ext cx="11091672" cy="3931920"/>
        </p:xfrm>
        <a:graphic>
          <a:graphicData uri="http://schemas.openxmlformats.org/drawingml/2006/table">
            <a:tbl>
              <a:tblPr firstRow="1" bandRow="1">
                <a:tableStyleId>{5C22544A-7EE6-4342-B048-85BDC9FD1C3A}</a:tableStyleId>
              </a:tblPr>
              <a:tblGrid>
                <a:gridCol w="2514600"/>
                <a:gridCol w="1234440"/>
                <a:gridCol w="1234440"/>
                <a:gridCol w="1234440"/>
                <a:gridCol w="1600200"/>
                <a:gridCol w="1691640"/>
                <a:gridCol w="1581912"/>
              </a:tblGrid>
              <a:tr h="491490">
                <a:tc>
                  <a:txBody>
                    <a:bodyPr/>
                    <a:lstStyle/>
                    <a:p>
                      <a:pPr algn="l"/>
                      <a:r>
                        <a:rPr sz="1400" b="1">
                          <a:solidFill>
                            <a:srgbClr val="FFFFFF"/>
                          </a:solidFill>
                        </a:rPr>
                        <a:t>Metric</a:t>
                      </a:r>
                    </a:p>
                  </a:txBody>
                  <a:tcPr anchor="ctr">
                    <a:solidFill>
                      <a:srgbClr val="112239"/>
                    </a:solidFill>
                  </a:tcPr>
                </a:tc>
                <a:tc>
                  <a:txBody>
                    <a:bodyPr/>
                    <a:lstStyle/>
                    <a:p>
                      <a:pPr algn="r"/>
                      <a:r>
                        <a:rPr sz="1400" b="1">
                          <a:solidFill>
                            <a:srgbClr val="FFFFFF"/>
                          </a:solidFill>
                        </a:rPr>
                        <a:t>Q1 2026</a:t>
                      </a:r>
                    </a:p>
                  </a:txBody>
                  <a:tcPr anchor="ctr">
                    <a:solidFill>
                      <a:srgbClr val="112239"/>
                    </a:solidFill>
                  </a:tcPr>
                </a:tc>
                <a:tc>
                  <a:txBody>
                    <a:bodyPr/>
                    <a:lstStyle/>
                    <a:p>
                      <a:pPr algn="r"/>
                      <a:r>
                        <a:rPr sz="1400" b="1">
                          <a:solidFill>
                            <a:srgbClr val="FFFFFF"/>
                          </a:solidFill>
                        </a:rPr>
                        <a:t>Q2 2026</a:t>
                      </a:r>
                    </a:p>
                  </a:txBody>
                  <a:tcPr anchor="ctr">
                    <a:solidFill>
                      <a:srgbClr val="112239"/>
                    </a:solidFill>
                  </a:tcPr>
                </a:tc>
                <a:tc>
                  <a:txBody>
                    <a:bodyPr/>
                    <a:lstStyle/>
                    <a:p>
                      <a:pPr algn="r"/>
                      <a:r>
                        <a:rPr sz="1400" b="1">
                          <a:solidFill>
                            <a:srgbClr val="FFFFFF"/>
                          </a:solidFill>
                        </a:rPr>
                        <a:t>Q2 plan</a:t>
                      </a:r>
                    </a:p>
                  </a:txBody>
                  <a:tcPr anchor="ctr">
                    <a:solidFill>
                      <a:srgbClr val="112239"/>
                    </a:solidFill>
                  </a:tcPr>
                </a:tc>
                <a:tc>
                  <a:txBody>
                    <a:bodyPr/>
                    <a:lstStyle/>
                    <a:p>
                      <a:pPr algn="r"/>
                      <a:r>
                        <a:rPr sz="1400" b="1">
                          <a:solidFill>
                            <a:srgbClr val="FFFFFF"/>
                          </a:solidFill>
                        </a:rPr>
                        <a:t>Change vs Q1</a:t>
                      </a:r>
                    </a:p>
                  </a:txBody>
                  <a:tcPr anchor="ctr">
                    <a:solidFill>
                      <a:srgbClr val="112239"/>
                    </a:solidFill>
                  </a:tcPr>
                </a:tc>
                <a:tc>
                  <a:txBody>
                    <a:bodyPr/>
                    <a:lstStyle/>
                    <a:p>
                      <a:pPr algn="r"/>
                      <a:r>
                        <a:rPr sz="1400" b="1">
                          <a:solidFill>
                            <a:srgbClr val="FFFFFF"/>
                          </a:solidFill>
                        </a:rPr>
                        <a:t>Variance vs plan</a:t>
                      </a:r>
                    </a:p>
                  </a:txBody>
                  <a:tcPr anchor="ctr">
                    <a:solidFill>
                      <a:srgbClr val="112239"/>
                    </a:solidFill>
                  </a:tcPr>
                </a:tc>
                <a:tc>
                  <a:txBody>
                    <a:bodyPr/>
                    <a:lstStyle/>
                    <a:p>
                      <a:pPr algn="l"/>
                      <a:r>
                        <a:rPr sz="1400" b="1">
                          <a:solidFill>
                            <a:srgbClr val="FFFFFF"/>
                          </a:solidFill>
                        </a:rPr>
                        <a:t>Status</a:t>
                      </a:r>
                    </a:p>
                  </a:txBody>
                  <a:tcPr anchor="ctr">
                    <a:solidFill>
                      <a:srgbClr val="112239"/>
                    </a:solidFill>
                  </a:tcPr>
                </a:tc>
              </a:tr>
              <a:tr h="491490">
                <a:tc>
                  <a:txBody>
                    <a:bodyPr/>
                    <a:lstStyle/>
                    <a:p>
                      <a:pPr algn="l"/>
                      <a:r>
                        <a:rPr sz="1400" b="1">
                          <a:solidFill>
                            <a:srgbClr val="112239"/>
                          </a:solidFill>
                        </a:rPr>
                        <a:t>Revenue</a:t>
                      </a:r>
                    </a:p>
                  </a:txBody>
                  <a:tcPr anchor="ctr">
                    <a:solidFill>
                      <a:srgbClr val="FFFFFF"/>
                    </a:solidFill>
                  </a:tcPr>
                </a:tc>
                <a:tc>
                  <a:txBody>
                    <a:bodyPr/>
                    <a:lstStyle/>
                    <a:p>
                      <a:pPr algn="r"/>
                      <a:r>
                        <a:rPr sz="1400" b="0">
                          <a:solidFill>
                            <a:srgbClr val="475467"/>
                          </a:solidFill>
                        </a:rPr>
                        <a:t>$4.2M</a:t>
                      </a:r>
                    </a:p>
                  </a:txBody>
                  <a:tcPr anchor="ctr">
                    <a:solidFill>
                      <a:srgbClr val="FFFFFF"/>
                    </a:solidFill>
                  </a:tcPr>
                </a:tc>
                <a:tc>
                  <a:txBody>
                    <a:bodyPr/>
                    <a:lstStyle/>
                    <a:p>
                      <a:pPr algn="r"/>
                      <a:r>
                        <a:rPr sz="1400" b="1">
                          <a:solidFill>
                            <a:srgbClr val="112239"/>
                          </a:solidFill>
                        </a:rPr>
                        <a:t>$4.8M</a:t>
                      </a:r>
                    </a:p>
                  </a:txBody>
                  <a:tcPr anchor="ctr">
                    <a:solidFill>
                      <a:srgbClr val="FFFFFF"/>
                    </a:solidFill>
                  </a:tcPr>
                </a:tc>
                <a:tc>
                  <a:txBody>
                    <a:bodyPr/>
                    <a:lstStyle/>
                    <a:p>
                      <a:pPr algn="r"/>
                      <a:r>
                        <a:rPr sz="1400" b="0">
                          <a:solidFill>
                            <a:srgbClr val="475467"/>
                          </a:solidFill>
                        </a:rPr>
                        <a:t>$5.0M</a:t>
                      </a:r>
                    </a:p>
                  </a:txBody>
                  <a:tcPr anchor="ctr">
                    <a:solidFill>
                      <a:srgbClr val="FFFFFF"/>
                    </a:solidFill>
                  </a:tcPr>
                </a:tc>
                <a:tc>
                  <a:txBody>
                    <a:bodyPr/>
                    <a:lstStyle/>
                    <a:p>
                      <a:pPr algn="r"/>
                      <a:r>
                        <a:rPr sz="1400" b="0">
                          <a:solidFill>
                            <a:srgbClr val="112239"/>
                          </a:solidFill>
                        </a:rPr>
                        <a:t>+$0.6M</a:t>
                      </a:r>
                    </a:p>
                  </a:txBody>
                  <a:tcPr anchor="ctr">
                    <a:solidFill>
                      <a:srgbClr val="FFFFFF"/>
                    </a:solidFill>
                  </a:tcPr>
                </a:tc>
                <a:tc>
                  <a:txBody>
                    <a:bodyPr/>
                    <a:lstStyle/>
                    <a:p>
                      <a:pPr algn="r"/>
                      <a:r>
                        <a:rPr sz="1400" b="1">
                          <a:solidFill>
                            <a:srgbClr val="B42318"/>
                          </a:solidFill>
                        </a:rPr>
                        <a:t>−$0.2M</a:t>
                      </a:r>
                    </a:p>
                  </a:txBody>
                  <a:tcPr anchor="ctr">
                    <a:solidFill>
                      <a:srgbClr val="FFFFFF"/>
                    </a:solidFill>
                  </a:tcPr>
                </a:tc>
                <a:tc>
                  <a:txBody>
                    <a:bodyPr/>
                    <a:lstStyle/>
                    <a:p>
                      <a:pPr algn="l"/>
                      <a:r>
                        <a:rPr sz="1400" b="1">
                          <a:solidFill>
                            <a:srgbClr val="B42318"/>
                          </a:solidFill>
                        </a:rPr>
                        <a:t>Short of plan</a:t>
                      </a:r>
                    </a:p>
                  </a:txBody>
                  <a:tcPr anchor="ctr">
                    <a:solidFill>
                      <a:srgbClr val="FFFFFF"/>
                    </a:solidFill>
                  </a:tcPr>
                </a:tc>
              </a:tr>
              <a:tr h="491490">
                <a:tc>
                  <a:txBody>
                    <a:bodyPr/>
                    <a:lstStyle/>
                    <a:p>
                      <a:pPr algn="l"/>
                      <a:r>
                        <a:rPr sz="1400" b="1">
                          <a:solidFill>
                            <a:srgbClr val="112239"/>
                          </a:solidFill>
                        </a:rPr>
                        <a:t>New ARR</a:t>
                      </a:r>
                    </a:p>
                  </a:txBody>
                  <a:tcPr anchor="ctr">
                    <a:solidFill>
                      <a:srgbClr val="F1F5F9"/>
                    </a:solidFill>
                  </a:tcPr>
                </a:tc>
                <a:tc>
                  <a:txBody>
                    <a:bodyPr/>
                    <a:lstStyle/>
                    <a:p>
                      <a:pPr algn="r"/>
                      <a:r>
                        <a:rPr sz="1400" b="0">
                          <a:solidFill>
                            <a:srgbClr val="475467"/>
                          </a:solidFill>
                        </a:rPr>
                        <a:t>$1.1M</a:t>
                      </a:r>
                    </a:p>
                  </a:txBody>
                  <a:tcPr anchor="ctr">
                    <a:solidFill>
                      <a:srgbClr val="F1F5F9"/>
                    </a:solidFill>
                  </a:tcPr>
                </a:tc>
                <a:tc>
                  <a:txBody>
                    <a:bodyPr/>
                    <a:lstStyle/>
                    <a:p>
                      <a:pPr algn="r"/>
                      <a:r>
                        <a:rPr sz="1400" b="1">
                          <a:solidFill>
                            <a:srgbClr val="112239"/>
                          </a:solidFill>
                        </a:rPr>
                        <a:t>$1.4M</a:t>
                      </a:r>
                    </a:p>
                  </a:txBody>
                  <a:tcPr anchor="ctr">
                    <a:solidFill>
                      <a:srgbClr val="F1F5F9"/>
                    </a:solidFill>
                  </a:tcPr>
                </a:tc>
                <a:tc>
                  <a:txBody>
                    <a:bodyPr/>
                    <a:lstStyle/>
                    <a:p>
                      <a:pPr algn="r"/>
                      <a:r>
                        <a:rPr sz="1400" b="0">
                          <a:solidFill>
                            <a:srgbClr val="475467"/>
                          </a:solidFill>
                        </a:rPr>
                        <a:t>$1.5M</a:t>
                      </a:r>
                    </a:p>
                  </a:txBody>
                  <a:tcPr anchor="ctr">
                    <a:solidFill>
                      <a:srgbClr val="F1F5F9"/>
                    </a:solidFill>
                  </a:tcPr>
                </a:tc>
                <a:tc>
                  <a:txBody>
                    <a:bodyPr/>
                    <a:lstStyle/>
                    <a:p>
                      <a:pPr algn="r"/>
                      <a:r>
                        <a:rPr sz="1400" b="0">
                          <a:solidFill>
                            <a:srgbClr val="112239"/>
                          </a:solidFill>
                        </a:rPr>
                        <a:t>+$0.3M</a:t>
                      </a:r>
                    </a:p>
                  </a:txBody>
                  <a:tcPr anchor="ctr">
                    <a:solidFill>
                      <a:srgbClr val="F1F5F9"/>
                    </a:solidFill>
                  </a:tcPr>
                </a:tc>
                <a:tc>
                  <a:txBody>
                    <a:bodyPr/>
                    <a:lstStyle/>
                    <a:p>
                      <a:pPr algn="r"/>
                      <a:r>
                        <a:rPr sz="1400" b="1">
                          <a:solidFill>
                            <a:srgbClr val="B42318"/>
                          </a:solidFill>
                        </a:rPr>
                        <a:t>−$0.1M</a:t>
                      </a:r>
                    </a:p>
                  </a:txBody>
                  <a:tcPr anchor="ctr">
                    <a:solidFill>
                      <a:srgbClr val="F1F5F9"/>
                    </a:solidFill>
                  </a:tcPr>
                </a:tc>
                <a:tc>
                  <a:txBody>
                    <a:bodyPr/>
                    <a:lstStyle/>
                    <a:p>
                      <a:pPr algn="l"/>
                      <a:r>
                        <a:rPr sz="1400" b="1">
                          <a:solidFill>
                            <a:srgbClr val="B42318"/>
                          </a:solidFill>
                        </a:rPr>
                        <a:t>Short of plan</a:t>
                      </a:r>
                    </a:p>
                  </a:txBody>
                  <a:tcPr anchor="ctr">
                    <a:solidFill>
                      <a:srgbClr val="F1F5F9"/>
                    </a:solidFill>
                  </a:tcPr>
                </a:tc>
              </a:tr>
              <a:tr h="491490">
                <a:tc>
                  <a:txBody>
                    <a:bodyPr/>
                    <a:lstStyle/>
                    <a:p>
                      <a:pPr algn="l"/>
                      <a:r>
                        <a:rPr sz="1400" b="1">
                          <a:solidFill>
                            <a:srgbClr val="112239"/>
                          </a:solidFill>
                        </a:rPr>
                        <a:t>Gross margin</a:t>
                      </a:r>
                    </a:p>
                  </a:txBody>
                  <a:tcPr anchor="ctr">
                    <a:solidFill>
                      <a:srgbClr val="FFFFFF"/>
                    </a:solidFill>
                  </a:tcPr>
                </a:tc>
                <a:tc>
                  <a:txBody>
                    <a:bodyPr/>
                    <a:lstStyle/>
                    <a:p>
                      <a:pPr algn="r"/>
                      <a:r>
                        <a:rPr sz="1400" b="0">
                          <a:solidFill>
                            <a:srgbClr val="475467"/>
                          </a:solidFill>
                        </a:rPr>
                        <a:t>72%</a:t>
                      </a:r>
                    </a:p>
                  </a:txBody>
                  <a:tcPr anchor="ctr">
                    <a:solidFill>
                      <a:srgbClr val="FFFFFF"/>
                    </a:solidFill>
                  </a:tcPr>
                </a:tc>
                <a:tc>
                  <a:txBody>
                    <a:bodyPr/>
                    <a:lstStyle/>
                    <a:p>
                      <a:pPr algn="r"/>
                      <a:r>
                        <a:rPr sz="1400" b="1">
                          <a:solidFill>
                            <a:srgbClr val="112239"/>
                          </a:solidFill>
                        </a:rPr>
                        <a:t>74%</a:t>
                      </a:r>
                    </a:p>
                  </a:txBody>
                  <a:tcPr anchor="ctr">
                    <a:solidFill>
                      <a:srgbClr val="FFFFFF"/>
                    </a:solidFill>
                  </a:tcPr>
                </a:tc>
                <a:tc>
                  <a:txBody>
                    <a:bodyPr/>
                    <a:lstStyle/>
                    <a:p>
                      <a:pPr algn="r"/>
                      <a:r>
                        <a:rPr sz="1400" b="0">
                          <a:solidFill>
                            <a:srgbClr val="475467"/>
                          </a:solidFill>
                        </a:rPr>
                        <a:t>73%</a:t>
                      </a:r>
                    </a:p>
                  </a:txBody>
                  <a:tcPr anchor="ctr">
                    <a:solidFill>
                      <a:srgbClr val="FFFFFF"/>
                    </a:solidFill>
                  </a:tcPr>
                </a:tc>
                <a:tc>
                  <a:txBody>
                    <a:bodyPr/>
                    <a:lstStyle/>
                    <a:p>
                      <a:pPr algn="r"/>
                      <a:r>
                        <a:rPr sz="1400" b="0">
                          <a:solidFill>
                            <a:srgbClr val="112239"/>
                          </a:solidFill>
                        </a:rPr>
                        <a:t>+2 pp</a:t>
                      </a:r>
                    </a:p>
                  </a:txBody>
                  <a:tcPr anchor="ctr">
                    <a:solidFill>
                      <a:srgbClr val="FFFFFF"/>
                    </a:solidFill>
                  </a:tcPr>
                </a:tc>
                <a:tc>
                  <a:txBody>
                    <a:bodyPr/>
                    <a:lstStyle/>
                    <a:p>
                      <a:pPr algn="r"/>
                      <a:r>
                        <a:rPr sz="1400" b="1">
                          <a:solidFill>
                            <a:srgbClr val="027A48"/>
                          </a:solidFill>
                        </a:rPr>
                        <a:t>+1 pp</a:t>
                      </a:r>
                    </a:p>
                  </a:txBody>
                  <a:tcPr anchor="ctr">
                    <a:solidFill>
                      <a:srgbClr val="FFFFFF"/>
                    </a:solidFill>
                  </a:tcPr>
                </a:tc>
                <a:tc>
                  <a:txBody>
                    <a:bodyPr/>
                    <a:lstStyle/>
                    <a:p>
                      <a:pPr algn="l"/>
                      <a:r>
                        <a:rPr sz="1400" b="1">
                          <a:solidFill>
                            <a:srgbClr val="027A48"/>
                          </a:solidFill>
                        </a:rPr>
                        <a:t>Ahead of plan</a:t>
                      </a:r>
                    </a:p>
                  </a:txBody>
                  <a:tcPr anchor="ctr">
                    <a:solidFill>
                      <a:srgbClr val="FFFFFF"/>
                    </a:solidFill>
                  </a:tcPr>
                </a:tc>
              </a:tr>
              <a:tr h="491490">
                <a:tc>
                  <a:txBody>
                    <a:bodyPr/>
                    <a:lstStyle/>
                    <a:p>
                      <a:pPr algn="l"/>
                      <a:r>
                        <a:rPr sz="1400" b="1">
                          <a:solidFill>
                            <a:srgbClr val="112239"/>
                          </a:solidFill>
                        </a:rPr>
                        <a:t>Net revenue retention</a:t>
                      </a:r>
                    </a:p>
                  </a:txBody>
                  <a:tcPr anchor="ctr">
                    <a:solidFill>
                      <a:srgbClr val="F1F5F9"/>
                    </a:solidFill>
                  </a:tcPr>
                </a:tc>
                <a:tc>
                  <a:txBody>
                    <a:bodyPr/>
                    <a:lstStyle/>
                    <a:p>
                      <a:pPr algn="r"/>
                      <a:r>
                        <a:rPr sz="1400" b="0">
                          <a:solidFill>
                            <a:srgbClr val="475467"/>
                          </a:solidFill>
                        </a:rPr>
                        <a:t>106%</a:t>
                      </a:r>
                    </a:p>
                  </a:txBody>
                  <a:tcPr anchor="ctr">
                    <a:solidFill>
                      <a:srgbClr val="F1F5F9"/>
                    </a:solidFill>
                  </a:tcPr>
                </a:tc>
                <a:tc>
                  <a:txBody>
                    <a:bodyPr/>
                    <a:lstStyle/>
                    <a:p>
                      <a:pPr algn="r"/>
                      <a:r>
                        <a:rPr sz="1400" b="1">
                          <a:solidFill>
                            <a:srgbClr val="112239"/>
                          </a:solidFill>
                        </a:rPr>
                        <a:t>108%</a:t>
                      </a:r>
                    </a:p>
                  </a:txBody>
                  <a:tcPr anchor="ctr">
                    <a:solidFill>
                      <a:srgbClr val="F1F5F9"/>
                    </a:solidFill>
                  </a:tcPr>
                </a:tc>
                <a:tc>
                  <a:txBody>
                    <a:bodyPr/>
                    <a:lstStyle/>
                    <a:p>
                      <a:pPr algn="r"/>
                      <a:r>
                        <a:rPr sz="1400" b="0">
                          <a:solidFill>
                            <a:srgbClr val="475467"/>
                          </a:solidFill>
                        </a:rPr>
                        <a:t>110%</a:t>
                      </a:r>
                    </a:p>
                  </a:txBody>
                  <a:tcPr anchor="ctr">
                    <a:solidFill>
                      <a:srgbClr val="F1F5F9"/>
                    </a:solidFill>
                  </a:tcPr>
                </a:tc>
                <a:tc>
                  <a:txBody>
                    <a:bodyPr/>
                    <a:lstStyle/>
                    <a:p>
                      <a:pPr algn="r"/>
                      <a:r>
                        <a:rPr sz="1400" b="0">
                          <a:solidFill>
                            <a:srgbClr val="112239"/>
                          </a:solidFill>
                        </a:rPr>
                        <a:t>+2 pp</a:t>
                      </a:r>
                    </a:p>
                  </a:txBody>
                  <a:tcPr anchor="ctr">
                    <a:solidFill>
                      <a:srgbClr val="F1F5F9"/>
                    </a:solidFill>
                  </a:tcPr>
                </a:tc>
                <a:tc>
                  <a:txBody>
                    <a:bodyPr/>
                    <a:lstStyle/>
                    <a:p>
                      <a:pPr algn="r"/>
                      <a:r>
                        <a:rPr sz="1400" b="1">
                          <a:solidFill>
                            <a:srgbClr val="B42318"/>
                          </a:solidFill>
                        </a:rPr>
                        <a:t>−2 pp</a:t>
                      </a:r>
                    </a:p>
                  </a:txBody>
                  <a:tcPr anchor="ctr">
                    <a:solidFill>
                      <a:srgbClr val="F1F5F9"/>
                    </a:solidFill>
                  </a:tcPr>
                </a:tc>
                <a:tc>
                  <a:txBody>
                    <a:bodyPr/>
                    <a:lstStyle/>
                    <a:p>
                      <a:pPr algn="l"/>
                      <a:r>
                        <a:rPr sz="1400" b="1">
                          <a:solidFill>
                            <a:srgbClr val="B42318"/>
                          </a:solidFill>
                        </a:rPr>
                        <a:t>Short of plan</a:t>
                      </a:r>
                    </a:p>
                  </a:txBody>
                  <a:tcPr anchor="ctr">
                    <a:solidFill>
                      <a:srgbClr val="F1F5F9"/>
                    </a:solidFill>
                  </a:tcPr>
                </a:tc>
              </a:tr>
              <a:tr h="491490">
                <a:tc>
                  <a:txBody>
                    <a:bodyPr/>
                    <a:lstStyle/>
                    <a:p>
                      <a:pPr algn="l"/>
                      <a:r>
                        <a:rPr sz="1400" b="1">
                          <a:solidFill>
                            <a:srgbClr val="112239"/>
                          </a:solidFill>
                        </a:rPr>
                        <a:t>Pipeline coverage</a:t>
                      </a:r>
                    </a:p>
                  </a:txBody>
                  <a:tcPr anchor="ctr">
                    <a:solidFill>
                      <a:srgbClr val="FFFFFF"/>
                    </a:solidFill>
                  </a:tcPr>
                </a:tc>
                <a:tc>
                  <a:txBody>
                    <a:bodyPr/>
                    <a:lstStyle/>
                    <a:p>
                      <a:pPr algn="r"/>
                      <a:r>
                        <a:rPr sz="1400" b="0">
                          <a:solidFill>
                            <a:srgbClr val="475467"/>
                          </a:solidFill>
                        </a:rPr>
                        <a:t>2.7x</a:t>
                      </a:r>
                    </a:p>
                  </a:txBody>
                  <a:tcPr anchor="ctr">
                    <a:solidFill>
                      <a:srgbClr val="FFFFFF"/>
                    </a:solidFill>
                  </a:tcPr>
                </a:tc>
                <a:tc>
                  <a:txBody>
                    <a:bodyPr/>
                    <a:lstStyle/>
                    <a:p>
                      <a:pPr algn="r"/>
                      <a:r>
                        <a:rPr sz="1400" b="1">
                          <a:solidFill>
                            <a:srgbClr val="112239"/>
                          </a:solidFill>
                        </a:rPr>
                        <a:t>2.9x</a:t>
                      </a:r>
                    </a:p>
                  </a:txBody>
                  <a:tcPr anchor="ctr">
                    <a:solidFill>
                      <a:srgbClr val="FFFFFF"/>
                    </a:solidFill>
                  </a:tcPr>
                </a:tc>
                <a:tc>
                  <a:txBody>
                    <a:bodyPr/>
                    <a:lstStyle/>
                    <a:p>
                      <a:pPr algn="r"/>
                      <a:r>
                        <a:rPr sz="1400" b="0">
                          <a:solidFill>
                            <a:srgbClr val="475467"/>
                          </a:solidFill>
                        </a:rPr>
                        <a:t>3.2x</a:t>
                      </a:r>
                    </a:p>
                  </a:txBody>
                  <a:tcPr anchor="ctr">
                    <a:solidFill>
                      <a:srgbClr val="FFFFFF"/>
                    </a:solidFill>
                  </a:tcPr>
                </a:tc>
                <a:tc>
                  <a:txBody>
                    <a:bodyPr/>
                    <a:lstStyle/>
                    <a:p>
                      <a:pPr algn="r"/>
                      <a:r>
                        <a:rPr sz="1400" b="0">
                          <a:solidFill>
                            <a:srgbClr val="112239"/>
                          </a:solidFill>
                        </a:rPr>
                        <a:t>+0.2x</a:t>
                      </a:r>
                    </a:p>
                  </a:txBody>
                  <a:tcPr anchor="ctr">
                    <a:solidFill>
                      <a:srgbClr val="FFFFFF"/>
                    </a:solidFill>
                  </a:tcPr>
                </a:tc>
                <a:tc>
                  <a:txBody>
                    <a:bodyPr/>
                    <a:lstStyle/>
                    <a:p>
                      <a:pPr algn="r"/>
                      <a:r>
                        <a:rPr sz="1400" b="1">
                          <a:solidFill>
                            <a:srgbClr val="B42318"/>
                          </a:solidFill>
                        </a:rPr>
                        <a:t>−0.3x</a:t>
                      </a:r>
                    </a:p>
                  </a:txBody>
                  <a:tcPr anchor="ctr">
                    <a:solidFill>
                      <a:srgbClr val="FFFFFF"/>
                    </a:solidFill>
                  </a:tcPr>
                </a:tc>
                <a:tc>
                  <a:txBody>
                    <a:bodyPr/>
                    <a:lstStyle/>
                    <a:p>
                      <a:pPr algn="l"/>
                      <a:r>
                        <a:rPr sz="1400" b="1">
                          <a:solidFill>
                            <a:srgbClr val="B42318"/>
                          </a:solidFill>
                        </a:rPr>
                        <a:t>Short of plan</a:t>
                      </a:r>
                    </a:p>
                  </a:txBody>
                  <a:tcPr anchor="ctr">
                    <a:solidFill>
                      <a:srgbClr val="FFFFFF"/>
                    </a:solidFill>
                  </a:tcPr>
                </a:tc>
              </a:tr>
              <a:tr h="491490">
                <a:tc>
                  <a:txBody>
                    <a:bodyPr/>
                    <a:lstStyle/>
                    <a:p>
                      <a:pPr algn="l"/>
                      <a:r>
                        <a:rPr sz="1400" b="1">
                          <a:solidFill>
                            <a:srgbClr val="112239"/>
                          </a:solidFill>
                        </a:rPr>
                        <a:t>Enterprise win rate</a:t>
                      </a:r>
                    </a:p>
                  </a:txBody>
                  <a:tcPr anchor="ctr">
                    <a:solidFill>
                      <a:srgbClr val="F1F5F9"/>
                    </a:solidFill>
                  </a:tcPr>
                </a:tc>
                <a:tc>
                  <a:txBody>
                    <a:bodyPr/>
                    <a:lstStyle/>
                    <a:p>
                      <a:pPr algn="r"/>
                      <a:r>
                        <a:rPr sz="1400" b="0">
                          <a:solidFill>
                            <a:srgbClr val="475467"/>
                          </a:solidFill>
                        </a:rPr>
                        <a:t>24%</a:t>
                      </a:r>
                    </a:p>
                  </a:txBody>
                  <a:tcPr anchor="ctr">
                    <a:solidFill>
                      <a:srgbClr val="F1F5F9"/>
                    </a:solidFill>
                  </a:tcPr>
                </a:tc>
                <a:tc>
                  <a:txBody>
                    <a:bodyPr/>
                    <a:lstStyle/>
                    <a:p>
                      <a:pPr algn="r"/>
                      <a:r>
                        <a:rPr sz="1400" b="1">
                          <a:solidFill>
                            <a:srgbClr val="112239"/>
                          </a:solidFill>
                        </a:rPr>
                        <a:t>28%</a:t>
                      </a:r>
                    </a:p>
                  </a:txBody>
                  <a:tcPr anchor="ctr">
                    <a:solidFill>
                      <a:srgbClr val="F1F5F9"/>
                    </a:solidFill>
                  </a:tcPr>
                </a:tc>
                <a:tc>
                  <a:txBody>
                    <a:bodyPr/>
                    <a:lstStyle/>
                    <a:p>
                      <a:pPr algn="r"/>
                      <a:r>
                        <a:rPr sz="1400" b="0">
                          <a:solidFill>
                            <a:srgbClr val="475467"/>
                          </a:solidFill>
                        </a:rPr>
                        <a:t>30%</a:t>
                      </a:r>
                    </a:p>
                  </a:txBody>
                  <a:tcPr anchor="ctr">
                    <a:solidFill>
                      <a:srgbClr val="F1F5F9"/>
                    </a:solidFill>
                  </a:tcPr>
                </a:tc>
                <a:tc>
                  <a:txBody>
                    <a:bodyPr/>
                    <a:lstStyle/>
                    <a:p>
                      <a:pPr algn="r"/>
                      <a:r>
                        <a:rPr sz="1400" b="0">
                          <a:solidFill>
                            <a:srgbClr val="112239"/>
                          </a:solidFill>
                        </a:rPr>
                        <a:t>+4 pp</a:t>
                      </a:r>
                    </a:p>
                  </a:txBody>
                  <a:tcPr anchor="ctr">
                    <a:solidFill>
                      <a:srgbClr val="F1F5F9"/>
                    </a:solidFill>
                  </a:tcPr>
                </a:tc>
                <a:tc>
                  <a:txBody>
                    <a:bodyPr/>
                    <a:lstStyle/>
                    <a:p>
                      <a:pPr algn="r"/>
                      <a:r>
                        <a:rPr sz="1400" b="1">
                          <a:solidFill>
                            <a:srgbClr val="B42318"/>
                          </a:solidFill>
                        </a:rPr>
                        <a:t>−2 pp</a:t>
                      </a:r>
                    </a:p>
                  </a:txBody>
                  <a:tcPr anchor="ctr">
                    <a:solidFill>
                      <a:srgbClr val="F1F5F9"/>
                    </a:solidFill>
                  </a:tcPr>
                </a:tc>
                <a:tc>
                  <a:txBody>
                    <a:bodyPr/>
                    <a:lstStyle/>
                    <a:p>
                      <a:pPr algn="l"/>
                      <a:r>
                        <a:rPr sz="1400" b="1">
                          <a:solidFill>
                            <a:srgbClr val="B42318"/>
                          </a:solidFill>
                        </a:rPr>
                        <a:t>Short of plan</a:t>
                      </a:r>
                    </a:p>
                  </a:txBody>
                  <a:tcPr anchor="ctr">
                    <a:solidFill>
                      <a:srgbClr val="F1F5F9"/>
                    </a:solidFill>
                  </a:tcPr>
                </a:tc>
              </a:tr>
              <a:tr h="491490">
                <a:tc>
                  <a:txBody>
                    <a:bodyPr/>
                    <a:lstStyle/>
                    <a:p>
                      <a:pPr algn="l"/>
                      <a:r>
                        <a:rPr sz="1400" b="1">
                          <a:solidFill>
                            <a:srgbClr val="112239"/>
                          </a:solidFill>
                        </a:rPr>
                        <a:t>Sales cycle</a:t>
                      </a:r>
                    </a:p>
                  </a:txBody>
                  <a:tcPr anchor="ctr">
                    <a:solidFill>
                      <a:srgbClr val="FFFFFF"/>
                    </a:solidFill>
                  </a:tcPr>
                </a:tc>
                <a:tc>
                  <a:txBody>
                    <a:bodyPr/>
                    <a:lstStyle/>
                    <a:p>
                      <a:pPr algn="r"/>
                      <a:r>
                        <a:rPr sz="1400" b="0">
                          <a:solidFill>
                            <a:srgbClr val="475467"/>
                          </a:solidFill>
                        </a:rPr>
                        <a:t>67 days</a:t>
                      </a:r>
                    </a:p>
                  </a:txBody>
                  <a:tcPr anchor="ctr">
                    <a:solidFill>
                      <a:srgbClr val="FFFFFF"/>
                    </a:solidFill>
                  </a:tcPr>
                </a:tc>
                <a:tc>
                  <a:txBody>
                    <a:bodyPr/>
                    <a:lstStyle/>
                    <a:p>
                      <a:pPr algn="r"/>
                      <a:r>
                        <a:rPr sz="1400" b="1">
                          <a:solidFill>
                            <a:srgbClr val="112239"/>
                          </a:solidFill>
                        </a:rPr>
                        <a:t>63 days</a:t>
                      </a:r>
                    </a:p>
                  </a:txBody>
                  <a:tcPr anchor="ctr">
                    <a:solidFill>
                      <a:srgbClr val="FFFFFF"/>
                    </a:solidFill>
                  </a:tcPr>
                </a:tc>
                <a:tc>
                  <a:txBody>
                    <a:bodyPr/>
                    <a:lstStyle/>
                    <a:p>
                      <a:pPr algn="r"/>
                      <a:r>
                        <a:rPr sz="1400" b="0">
                          <a:solidFill>
                            <a:srgbClr val="475467"/>
                          </a:solidFill>
                        </a:rPr>
                        <a:t>60 days</a:t>
                      </a:r>
                    </a:p>
                  </a:txBody>
                  <a:tcPr anchor="ctr">
                    <a:solidFill>
                      <a:srgbClr val="FFFFFF"/>
                    </a:solidFill>
                  </a:tcPr>
                </a:tc>
                <a:tc>
                  <a:txBody>
                    <a:bodyPr/>
                    <a:lstStyle/>
                    <a:p>
                      <a:pPr algn="r"/>
                      <a:r>
                        <a:rPr sz="1400" b="0">
                          <a:solidFill>
                            <a:srgbClr val="112239"/>
                          </a:solidFill>
                        </a:rPr>
                        <a:t>−4 days</a:t>
                      </a:r>
                    </a:p>
                  </a:txBody>
                  <a:tcPr anchor="ctr">
                    <a:solidFill>
                      <a:srgbClr val="FFFFFF"/>
                    </a:solidFill>
                  </a:tcPr>
                </a:tc>
                <a:tc>
                  <a:txBody>
                    <a:bodyPr/>
                    <a:lstStyle/>
                    <a:p>
                      <a:pPr algn="r"/>
                      <a:r>
                        <a:rPr sz="1400" b="1">
                          <a:solidFill>
                            <a:srgbClr val="B42318"/>
                          </a:solidFill>
                        </a:rPr>
                        <a:t>+3 days</a:t>
                      </a:r>
                    </a:p>
                  </a:txBody>
                  <a:tcPr anchor="ctr">
                    <a:solidFill>
                      <a:srgbClr val="FFFFFF"/>
                    </a:solidFill>
                  </a:tcPr>
                </a:tc>
                <a:tc>
                  <a:txBody>
                    <a:bodyPr/>
                    <a:lstStyle/>
                    <a:p>
                      <a:pPr algn="l"/>
                      <a:r>
                        <a:rPr sz="1400" b="1">
                          <a:solidFill>
                            <a:srgbClr val="B42318"/>
                          </a:solidFill>
                        </a:rPr>
                        <a:t>Short of plan</a:t>
                      </a:r>
                    </a:p>
                  </a:txBody>
                  <a:tcPr anchor="ctr">
                    <a:solidFill>
                      <a:srgbClr val="FFFFFF"/>
                    </a:solidFill>
                  </a:tcPr>
                </a:tc>
              </a:tr>
            </a:tbl>
          </a:graphicData>
        </a:graphic>
      </p:graphicFrame>
      <p:sp>
        <p:nvSpPr>
          <p:cNvPr id="6" name="Table note"/>
          <p:cNvSpPr txBox="1"/>
          <p:nvPr/>
        </p:nvSpPr>
        <p:spPr>
          <a:xfrm>
            <a:off x="548640" y="5943600"/>
            <a:ext cx="11064240" cy="365760"/>
          </a:xfrm>
          <a:prstGeom prst="rect">
            <a:avLst/>
          </a:prstGeom>
          <a:noFill/>
        </p:spPr>
        <p:txBody>
          <a:bodyPr wrap="square" anchor="t" lIns="73152" rIns="73152">
            <a:spAutoFit/>
          </a:bodyPr>
          <a:lstStyle/>
          <a:p>
            <a:pPr>
              <a:spcAft>
                <a:spcPts val="400"/>
              </a:spcAft>
            </a:pPr>
            <a:r>
              <a:rPr sz="1300" b="0">
                <a:solidFill>
                  <a:srgbClr val="475467"/>
                </a:solidFill>
              </a:rPr>
              <a:t>For sales cycle, fewer days is ahead of plan. Status is shown in words as well as colour.</a:t>
            </a:r>
          </a:p>
        </p:txBody>
      </p:sp>
      <p:sp>
        <p:nvSpPr>
          <p:cNvPr id="7" name="Top bar">
            <a:extLst>
              <a:ext uri="{C183D7F6-B498-43B3-948B-1728B52AA6E4}">
                <adec:decorative xmlns:adec="http://schemas.microsoft.com/office/drawing/2017/decorative" val="1"/>
              </a:ext>
            </a:extLst>
          </p:cNvPr>
          <p:cNvSpPr/>
          <p:nvPr/>
        </p:nvSpPr>
        <p:spPr>
          <a:xfrm>
            <a:off x="0" y="0"/>
            <a:ext cx="12191695" cy="91440"/>
          </a:xfrm>
          <a:prstGeom prst="rect">
            <a:avLst/>
          </a:prstGeom>
          <a:solidFill>
            <a:srgbClr val="006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er rule">
            <a:extLst>
              <a:ext uri="{C183D7F6-B498-43B3-948B-1728B52AA6E4}">
                <adec:decorative xmlns:adec="http://schemas.microsoft.com/office/drawing/2017/decorative" val="1"/>
              </a:ext>
            </a:extLst>
          </p:cNvPr>
          <p:cNvSpPr/>
          <p:nvPr/>
        </p:nvSpPr>
        <p:spPr>
          <a:xfrm>
            <a:off x="548640" y="6355080"/>
            <a:ext cx="11091672" cy="9144"/>
          </a:xfrm>
          <a:prstGeom prst="rect">
            <a:avLst/>
          </a:prstGeom>
          <a:solidFill>
            <a:srgbClr val="D0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isclosure"/>
          <p:cNvSpPr txBox="1"/>
          <p:nvPr/>
        </p:nvSpPr>
        <p:spPr>
          <a:xfrm>
            <a:off x="548640" y="6382512"/>
            <a:ext cx="9601200" cy="310896"/>
          </a:xfrm>
          <a:prstGeom prst="rect">
            <a:avLst/>
          </a:prstGeom>
          <a:noFill/>
        </p:spPr>
        <p:txBody>
          <a:bodyPr wrap="square" anchor="t" lIns="73152" rIns="73152">
            <a:spAutoFit/>
          </a:bodyPr>
          <a:lstStyle/>
          <a:p>
            <a:pPr>
              <a:spcAft>
                <a:spcPts val="400"/>
              </a:spcAft>
            </a:pPr>
            <a:r>
              <a:rPr sz="1200" b="0">
                <a:solidFill>
                  <a:srgbClr val="475467"/>
                </a:solidFill>
              </a:rPr>
              <a:t>Synthetic data. Northstar Cloud is a fictional company. Illustrative portfolio case.</a:t>
            </a:r>
          </a:p>
        </p:txBody>
      </p:sp>
      <p:sp>
        <p:nvSpPr>
          <p:cNvPr id="10" name="Page number"/>
          <p:cNvSpPr txBox="1"/>
          <p:nvPr/>
        </p:nvSpPr>
        <p:spPr>
          <a:xfrm>
            <a:off x="11018520" y="6382512"/>
            <a:ext cx="640080" cy="310896"/>
          </a:xfrm>
          <a:prstGeom prst="rect">
            <a:avLst/>
          </a:prstGeom>
          <a:noFill/>
        </p:spPr>
        <p:txBody>
          <a:bodyPr wrap="square" anchor="t" lIns="73152" rIns="73152">
            <a:spAutoFit/>
          </a:bodyPr>
          <a:lstStyle/>
          <a:p>
            <a:pPr>
              <a:spcAft>
                <a:spcPts val="400"/>
              </a:spcAft>
            </a:pPr>
            <a:r>
              <a:rPr sz="1200" b="0">
                <a:solidFill>
                  <a:srgbClr val="475467"/>
                </a:solidFil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48640" y="502920"/>
            <a:ext cx="11064240" cy="1024128"/>
          </a:xfrm>
        </p:spPr>
        <p:txBody>
          <a:bodyPr wrap="square" anchor="t" lIns="73152"/>
          <a:lstStyle/>
          <a:p>
            <a:pPr algn="l"/>
            <a:r>
              <a:rPr sz="2600" b="1">
                <a:solidFill>
                  <a:srgbClr val="112239"/>
                </a:solidFill>
                <a:latin typeface="Calibri"/>
              </a:rPr>
              <a:t>Pipeline coverage closed only 40% of its gap to plan, the lowest of the seven metrics</a:t>
            </a:r>
          </a:p>
        </p:txBody>
      </p:sp>
      <p:sp>
        <p:nvSpPr>
          <p:cNvPr id="3" name="Header"/>
          <p:cNvSpPr txBox="1"/>
          <p:nvPr/>
        </p:nvSpPr>
        <p:spPr>
          <a:xfrm>
            <a:off x="548640" y="201168"/>
            <a:ext cx="8229600" cy="292608"/>
          </a:xfrm>
          <a:prstGeom prst="rect">
            <a:avLst/>
          </a:prstGeom>
          <a:noFill/>
        </p:spPr>
        <p:txBody>
          <a:bodyPr wrap="square" anchor="t" lIns="73152" rIns="73152">
            <a:spAutoFit/>
          </a:bodyPr>
          <a:lstStyle/>
          <a:p>
            <a:pPr>
              <a:spcAft>
                <a:spcPts val="400"/>
              </a:spcAft>
            </a:pPr>
            <a:r>
              <a:rPr sz="1100" b="1">
                <a:solidFill>
                  <a:srgbClr val="006B66"/>
                </a:solidFill>
              </a:rPr>
              <a:t>NORTHSTAR CLOUD  /  Q2 2026 BUSINESS REVIEW</a:t>
            </a:r>
          </a:p>
        </p:txBody>
      </p:sp>
      <p:sp>
        <p:nvSpPr>
          <p:cNvPr id="4" name="Subtitle"/>
          <p:cNvSpPr txBox="1"/>
          <p:nvPr/>
        </p:nvSpPr>
        <p:spPr>
          <a:xfrm>
            <a:off x="548640" y="1536192"/>
            <a:ext cx="11064240" cy="365760"/>
          </a:xfrm>
          <a:prstGeom prst="rect">
            <a:avLst/>
          </a:prstGeom>
          <a:noFill/>
        </p:spPr>
        <p:txBody>
          <a:bodyPr wrap="square" anchor="t" lIns="73152" rIns="73152">
            <a:spAutoFit/>
          </a:bodyPr>
          <a:lstStyle/>
          <a:p>
            <a:pPr>
              <a:spcAft>
                <a:spcPts val="400"/>
              </a:spcAft>
            </a:pPr>
            <a:r>
              <a:rPr sz="1400" b="0">
                <a:solidFill>
                  <a:srgbClr val="475467"/>
                </a:solidFill>
              </a:rPr>
              <a:t>Share of the gap between Q1 2026 actual and Q2 2026 plan that was closed in Q2</a:t>
            </a:r>
          </a:p>
        </p:txBody>
      </p:sp>
      <p:graphicFrame>
        <p:nvGraphicFramePr>
          <p:cNvPr id="5" name="Gap closure chart" descr="Bar chart of the share of the Q1-to-plan gap closed in Q2: gross margin 200 percent, revenue 75, New ARR 75, enterprise win rate 67, sales cycle 57, net revenue retention 50, pipeline coverage 40. 100 percent means plan reached."/>
          <p:cNvGraphicFramePr>
            <a:graphicFrameLocks noGrp="1"/>
          </p:cNvGraphicFramePr>
          <p:nvPr/>
        </p:nvGraphicFramePr>
        <p:xfrm>
          <a:off x="548640" y="1874519"/>
          <a:ext cx="7315200" cy="4160520"/>
        </p:xfrm>
        <a:graphic>
          <a:graphicData uri="http://schemas.openxmlformats.org/drawingml/2006/chart">
            <c:chart xmlns:c="http://schemas.openxmlformats.org/drawingml/2006/chart" r:id="rId2"/>
          </a:graphicData>
        </a:graphic>
      </p:graphicFrame>
      <p:sp>
        <p:nvSpPr>
          <p:cNvPr id="6" name="Pipeline facts panel">
            <a:extLst>
              <a:ext uri="{C183D7F6-B498-43B3-948B-1728B52AA6E4}">
                <adec:decorative xmlns:adec="http://schemas.microsoft.com/office/drawing/2017/decorative" val="1"/>
              </a:ext>
            </a:extLst>
          </p:cNvPr>
          <p:cNvSpPr/>
          <p:nvPr/>
        </p:nvSpPr>
        <p:spPr>
          <a:xfrm>
            <a:off x="8138160" y="1965960"/>
            <a:ext cx="3502152" cy="406908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ipeline facts"/>
          <p:cNvSpPr txBox="1"/>
          <p:nvPr/>
        </p:nvSpPr>
        <p:spPr>
          <a:xfrm>
            <a:off x="8275320" y="2057400"/>
            <a:ext cx="3246120" cy="3931920"/>
          </a:xfrm>
          <a:prstGeom prst="rect">
            <a:avLst/>
          </a:prstGeom>
          <a:noFill/>
        </p:spPr>
        <p:txBody>
          <a:bodyPr wrap="square" anchor="t" lIns="73152" rIns="73152">
            <a:spAutoFit/>
          </a:bodyPr>
          <a:lstStyle/>
          <a:p>
            <a:pPr>
              <a:spcAft>
                <a:spcPts val="400"/>
              </a:spcAft>
            </a:pPr>
            <a:r>
              <a:rPr sz="1200" b="1">
                <a:solidFill>
                  <a:srgbClr val="475467"/>
                </a:solidFill>
              </a:rPr>
              <a:t>HOW TO READ</a:t>
            </a:r>
          </a:p>
          <a:p>
            <a:pPr>
              <a:spcAft>
                <a:spcPts val="400"/>
              </a:spcAft>
            </a:pPr>
            <a:r>
              <a:rPr sz="1300" b="0">
                <a:solidFill>
                  <a:srgbClr val="112239"/>
                </a:solidFill>
              </a:rPr>
              <a:t>100% means Q2 reached plan. Gross margin passed plan.</a:t>
            </a:r>
          </a:p>
          <a:p>
            <a:pPr>
              <a:spcAft>
                <a:spcPts val="400"/>
              </a:spcAft>
            </a:pPr>
            <a:r>
              <a:rPr sz="1200" b="1">
                <a:solidFill>
                  <a:srgbClr val="475467"/>
                </a:solidFill>
              </a:rPr>
              <a:t>PIPELINE COVERAGE</a:t>
            </a:r>
          </a:p>
          <a:p>
            <a:pPr>
              <a:spcAft>
                <a:spcPts val="400"/>
              </a:spcAft>
            </a:pPr>
            <a:r>
              <a:rPr sz="1500" b="1">
                <a:solidFill>
                  <a:srgbClr val="112239"/>
                </a:solidFill>
              </a:rPr>
              <a:t>2.9x vs 3.2x plan (90.6% attainment)</a:t>
            </a:r>
          </a:p>
          <a:p>
            <a:pPr>
              <a:spcAft>
                <a:spcPts val="400"/>
              </a:spcAft>
            </a:pPr>
            <a:r>
              <a:rPr sz="1300" b="0">
                <a:solidFill>
                  <a:srgbClr val="112239"/>
                </a:solidFill>
              </a:rPr>
              <a:t>Of the seven metrics, coverage closed the smallest share of its gap. Coverage measures pipeline for future quarters, so the shortfall matters for Q3. The source does not show how well coverage predicts revenue, and its stage and time basis is not stated.</a:t>
            </a:r>
          </a:p>
        </p:txBody>
      </p:sp>
      <p:sp>
        <p:nvSpPr>
          <p:cNvPr id="8" name="Top bar">
            <a:extLst>
              <a:ext uri="{C183D7F6-B498-43B3-948B-1728B52AA6E4}">
                <adec:decorative xmlns:adec="http://schemas.microsoft.com/office/drawing/2017/decorative" val="1"/>
              </a:ext>
            </a:extLst>
          </p:cNvPr>
          <p:cNvSpPr/>
          <p:nvPr/>
        </p:nvSpPr>
        <p:spPr>
          <a:xfrm>
            <a:off x="0" y="0"/>
            <a:ext cx="12191695" cy="91440"/>
          </a:xfrm>
          <a:prstGeom prst="rect">
            <a:avLst/>
          </a:prstGeom>
          <a:solidFill>
            <a:srgbClr val="006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ooter rule">
            <a:extLst>
              <a:ext uri="{C183D7F6-B498-43B3-948B-1728B52AA6E4}">
                <adec:decorative xmlns:adec="http://schemas.microsoft.com/office/drawing/2017/decorative" val="1"/>
              </a:ext>
            </a:extLst>
          </p:cNvPr>
          <p:cNvSpPr/>
          <p:nvPr/>
        </p:nvSpPr>
        <p:spPr>
          <a:xfrm>
            <a:off x="548640" y="6355080"/>
            <a:ext cx="11091672" cy="9144"/>
          </a:xfrm>
          <a:prstGeom prst="rect">
            <a:avLst/>
          </a:prstGeom>
          <a:solidFill>
            <a:srgbClr val="D0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isclosure"/>
          <p:cNvSpPr txBox="1"/>
          <p:nvPr/>
        </p:nvSpPr>
        <p:spPr>
          <a:xfrm>
            <a:off x="548640" y="6382512"/>
            <a:ext cx="9601200" cy="310896"/>
          </a:xfrm>
          <a:prstGeom prst="rect">
            <a:avLst/>
          </a:prstGeom>
          <a:noFill/>
        </p:spPr>
        <p:txBody>
          <a:bodyPr wrap="square" anchor="t" lIns="73152" rIns="73152">
            <a:spAutoFit/>
          </a:bodyPr>
          <a:lstStyle/>
          <a:p>
            <a:pPr>
              <a:spcAft>
                <a:spcPts val="400"/>
              </a:spcAft>
            </a:pPr>
            <a:r>
              <a:rPr sz="1200" b="0">
                <a:solidFill>
                  <a:srgbClr val="475467"/>
                </a:solidFill>
              </a:rPr>
              <a:t>Synthetic data. Northstar Cloud is a fictional company. Illustrative portfolio case.</a:t>
            </a:r>
          </a:p>
        </p:txBody>
      </p:sp>
      <p:sp>
        <p:nvSpPr>
          <p:cNvPr id="11" name="Page number"/>
          <p:cNvSpPr txBox="1"/>
          <p:nvPr/>
        </p:nvSpPr>
        <p:spPr>
          <a:xfrm>
            <a:off x="11018520" y="6382512"/>
            <a:ext cx="640080" cy="310896"/>
          </a:xfrm>
          <a:prstGeom prst="rect">
            <a:avLst/>
          </a:prstGeom>
          <a:noFill/>
        </p:spPr>
        <p:txBody>
          <a:bodyPr wrap="square" anchor="t" lIns="73152" rIns="73152">
            <a:spAutoFit/>
          </a:bodyPr>
          <a:lstStyle/>
          <a:p>
            <a:pPr>
              <a:spcAft>
                <a:spcPts val="400"/>
              </a:spcAft>
            </a:pPr>
            <a:r>
              <a:rPr sz="1200" b="0">
                <a:solidFill>
                  <a:srgbClr val="475467"/>
                </a:solidFil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48640" y="502920"/>
            <a:ext cx="11064240" cy="1024128"/>
          </a:xfrm>
        </p:spPr>
        <p:txBody>
          <a:bodyPr wrap="square" anchor="t" lIns="73152"/>
          <a:lstStyle/>
          <a:p>
            <a:pPr algn="l"/>
            <a:r>
              <a:rPr sz="2600" b="1">
                <a:solidFill>
                  <a:srgbClr val="112239"/>
                </a:solidFill>
                <a:latin typeface="Calibri"/>
              </a:rPr>
              <a:t>Before Q3 plan sign-off, leadership needs three pieces of evidence</a:t>
            </a:r>
          </a:p>
        </p:txBody>
      </p:sp>
      <p:sp>
        <p:nvSpPr>
          <p:cNvPr id="3" name="Header"/>
          <p:cNvSpPr txBox="1"/>
          <p:nvPr/>
        </p:nvSpPr>
        <p:spPr>
          <a:xfrm>
            <a:off x="548640" y="201168"/>
            <a:ext cx="8229600" cy="292608"/>
          </a:xfrm>
          <a:prstGeom prst="rect">
            <a:avLst/>
          </a:prstGeom>
          <a:noFill/>
        </p:spPr>
        <p:txBody>
          <a:bodyPr wrap="square" anchor="t" lIns="73152" rIns="73152">
            <a:spAutoFit/>
          </a:bodyPr>
          <a:lstStyle/>
          <a:p>
            <a:pPr>
              <a:spcAft>
                <a:spcPts val="400"/>
              </a:spcAft>
            </a:pPr>
            <a:r>
              <a:rPr sz="1100" b="1">
                <a:solidFill>
                  <a:srgbClr val="006B66"/>
                </a:solidFill>
              </a:rPr>
              <a:t>NORTHSTAR CLOUD  /  Q2 2026 BUSINESS REVIEW</a:t>
            </a:r>
          </a:p>
        </p:txBody>
      </p:sp>
      <p:sp>
        <p:nvSpPr>
          <p:cNvPr id="4" name="Subtitle"/>
          <p:cNvSpPr txBox="1"/>
          <p:nvPr/>
        </p:nvSpPr>
        <p:spPr>
          <a:xfrm>
            <a:off x="548640" y="1536192"/>
            <a:ext cx="11064240" cy="365760"/>
          </a:xfrm>
          <a:prstGeom prst="rect">
            <a:avLst/>
          </a:prstGeom>
          <a:noFill/>
        </p:spPr>
        <p:txBody>
          <a:bodyPr wrap="square" anchor="t" lIns="73152" rIns="73152">
            <a:spAutoFit/>
          </a:bodyPr>
          <a:lstStyle/>
          <a:p>
            <a:pPr>
              <a:spcAft>
                <a:spcPts val="400"/>
              </a:spcAft>
            </a:pPr>
            <a:r>
              <a:rPr sz="1400" b="0">
                <a:solidFill>
                  <a:srgbClr val="475467"/>
                </a:solidFill>
              </a:rPr>
              <a:t>Proposed requests. Owners are functions, not named people. No dates are set in the source.</a:t>
            </a:r>
          </a:p>
        </p:txBody>
      </p:sp>
      <p:graphicFrame>
        <p:nvGraphicFramePr>
          <p:cNvPr id="5" name="Evidence requests table" descr="Table of three evidence requests: Sales Operations pipeline audit, Customer Success retention bridge, Finance Q3 scenario range, each with its reason and the Q2 data that triggers it."/>
          <p:cNvGraphicFramePr>
            <a:graphicFrameLocks noGrp="1"/>
          </p:cNvGraphicFramePr>
          <p:nvPr/>
        </p:nvGraphicFramePr>
        <p:xfrm>
          <a:off x="548640" y="1920240"/>
          <a:ext cx="11091672" cy="3017520"/>
        </p:xfrm>
        <a:graphic>
          <a:graphicData uri="http://schemas.openxmlformats.org/drawingml/2006/table">
            <a:tbl>
              <a:tblPr firstRow="1" bandRow="1">
                <a:tableStyleId>{5C22544A-7EE6-4342-B048-85BDC9FD1C3A}</a:tableStyleId>
              </a:tblPr>
              <a:tblGrid>
                <a:gridCol w="2103120"/>
                <a:gridCol w="3383280"/>
                <a:gridCol w="3108960"/>
                <a:gridCol w="2496312"/>
              </a:tblGrid>
              <a:tr h="754380">
                <a:tc>
                  <a:txBody>
                    <a:bodyPr wrap="square"/>
                    <a:lstStyle/>
                    <a:p>
                      <a:r>
                        <a:rPr sz="1400" b="1">
                          <a:solidFill>
                            <a:srgbClr val="FFFFFF"/>
                          </a:solidFill>
                        </a:rPr>
                        <a:t>Owner (function)</a:t>
                      </a:r>
                    </a:p>
                  </a:txBody>
                  <a:tcPr anchor="ctr">
                    <a:solidFill>
                      <a:srgbClr val="112239"/>
                    </a:solidFill>
                  </a:tcPr>
                </a:tc>
                <a:tc>
                  <a:txBody>
                    <a:bodyPr wrap="square"/>
                    <a:lstStyle/>
                    <a:p>
                      <a:r>
                        <a:rPr sz="1400" b="1">
                          <a:solidFill>
                            <a:srgbClr val="FFFFFF"/>
                          </a:solidFill>
                        </a:rPr>
                        <a:t>Request</a:t>
                      </a:r>
                    </a:p>
                  </a:txBody>
                  <a:tcPr anchor="ctr">
                    <a:solidFill>
                      <a:srgbClr val="112239"/>
                    </a:solidFill>
                  </a:tcPr>
                </a:tc>
                <a:tc>
                  <a:txBody>
                    <a:bodyPr wrap="square"/>
                    <a:lstStyle/>
                    <a:p>
                      <a:r>
                        <a:rPr sz="1400" b="1">
                          <a:solidFill>
                            <a:srgbClr val="FFFFFF"/>
                          </a:solidFill>
                        </a:rPr>
                        <a:t>Why it matters</a:t>
                      </a:r>
                    </a:p>
                  </a:txBody>
                  <a:tcPr anchor="ctr">
                    <a:solidFill>
                      <a:srgbClr val="112239"/>
                    </a:solidFill>
                  </a:tcPr>
                </a:tc>
                <a:tc>
                  <a:txBody>
                    <a:bodyPr wrap="square"/>
                    <a:lstStyle/>
                    <a:p>
                      <a:r>
                        <a:rPr sz="1400" b="1">
                          <a:solidFill>
                            <a:srgbClr val="FFFFFF"/>
                          </a:solidFill>
                        </a:rPr>
                        <a:t>Trigger in Q2 data</a:t>
                      </a:r>
                    </a:p>
                  </a:txBody>
                  <a:tcPr anchor="ctr">
                    <a:solidFill>
                      <a:srgbClr val="112239"/>
                    </a:solidFill>
                  </a:tcPr>
                </a:tc>
              </a:tr>
              <a:tr h="754380">
                <a:tc>
                  <a:txBody>
                    <a:bodyPr wrap="square"/>
                    <a:lstStyle/>
                    <a:p>
                      <a:r>
                        <a:rPr sz="1400" b="1">
                          <a:solidFill>
                            <a:srgbClr val="006B66"/>
                          </a:solidFill>
                        </a:rPr>
                        <a:t>Sales Operations</a:t>
                      </a:r>
                    </a:p>
                  </a:txBody>
                  <a:tcPr anchor="ctr">
                    <a:solidFill>
                      <a:srgbClr val="FFFFFF"/>
                    </a:solidFill>
                  </a:tcPr>
                </a:tc>
                <a:tc>
                  <a:txBody>
                    <a:bodyPr wrap="square"/>
                    <a:lstStyle/>
                    <a:p>
                      <a:r>
                        <a:rPr sz="1400" b="0">
                          <a:solidFill>
                            <a:srgbClr val="112239"/>
                          </a:solidFill>
                        </a:rPr>
                        <a:t>Pipeline audit by stage, age, and segment</a:t>
                      </a:r>
                    </a:p>
                  </a:txBody>
                  <a:tcPr anchor="ctr">
                    <a:solidFill>
                      <a:srgbClr val="FFFFFF"/>
                    </a:solidFill>
                  </a:tcPr>
                </a:tc>
                <a:tc>
                  <a:txBody>
                    <a:bodyPr wrap="square"/>
                    <a:lstStyle/>
                    <a:p>
                      <a:r>
                        <a:rPr sz="1400" b="0">
                          <a:solidFill>
                            <a:srgbClr val="112239"/>
                          </a:solidFill>
                        </a:rPr>
                        <a:t>Shows whether coverage can support the Q3 plan.</a:t>
                      </a:r>
                    </a:p>
                  </a:txBody>
                  <a:tcPr anchor="ctr">
                    <a:solidFill>
                      <a:srgbClr val="FFFFFF"/>
                    </a:solidFill>
                  </a:tcPr>
                </a:tc>
                <a:tc>
                  <a:txBody>
                    <a:bodyPr wrap="square"/>
                    <a:lstStyle/>
                    <a:p>
                      <a:r>
                        <a:rPr sz="1400" b="0">
                          <a:solidFill>
                            <a:srgbClr val="112239"/>
                          </a:solidFill>
                        </a:rPr>
                        <a:t>Pipeline coverage short of plan</a:t>
                      </a:r>
                    </a:p>
                  </a:txBody>
                  <a:tcPr anchor="ctr">
                    <a:solidFill>
                      <a:srgbClr val="FFFFFF"/>
                    </a:solidFill>
                  </a:tcPr>
                </a:tc>
              </a:tr>
              <a:tr h="754380">
                <a:tc>
                  <a:txBody>
                    <a:bodyPr wrap="square"/>
                    <a:lstStyle/>
                    <a:p>
                      <a:r>
                        <a:rPr sz="1400" b="1">
                          <a:solidFill>
                            <a:srgbClr val="006B66"/>
                          </a:solidFill>
                        </a:rPr>
                        <a:t>Customer Success</a:t>
                      </a:r>
                    </a:p>
                  </a:txBody>
                  <a:tcPr anchor="ctr">
                    <a:solidFill>
                      <a:srgbClr val="F1F5F9"/>
                    </a:solidFill>
                  </a:tcPr>
                </a:tc>
                <a:tc>
                  <a:txBody>
                    <a:bodyPr wrap="square"/>
                    <a:lstStyle/>
                    <a:p>
                      <a:r>
                        <a:rPr sz="1400" b="0">
                          <a:solidFill>
                            <a:srgbClr val="112239"/>
                          </a:solidFill>
                        </a:rPr>
                        <a:t>Retention bridge by cohort: expansion, contraction, churn</a:t>
                      </a:r>
                    </a:p>
                  </a:txBody>
                  <a:tcPr anchor="ctr">
                    <a:solidFill>
                      <a:srgbClr val="F1F5F9"/>
                    </a:solidFill>
                  </a:tcPr>
                </a:tc>
                <a:tc>
                  <a:txBody>
                    <a:bodyPr wrap="square"/>
                    <a:lstStyle/>
                    <a:p>
                      <a:r>
                        <a:rPr sz="1400" b="0">
                          <a:solidFill>
                            <a:srgbClr val="112239"/>
                          </a:solidFill>
                        </a:rPr>
                        <a:t>Shows why retention is below plan.</a:t>
                      </a:r>
                    </a:p>
                  </a:txBody>
                  <a:tcPr anchor="ctr">
                    <a:solidFill>
                      <a:srgbClr val="F1F5F9"/>
                    </a:solidFill>
                  </a:tcPr>
                </a:tc>
                <a:tc>
                  <a:txBody>
                    <a:bodyPr wrap="square"/>
                    <a:lstStyle/>
                    <a:p>
                      <a:r>
                        <a:rPr sz="1400" b="0">
                          <a:solidFill>
                            <a:srgbClr val="112239"/>
                          </a:solidFill>
                        </a:rPr>
                        <a:t>Net revenue retention short of plan</a:t>
                      </a:r>
                    </a:p>
                  </a:txBody>
                  <a:tcPr anchor="ctr">
                    <a:solidFill>
                      <a:srgbClr val="F1F5F9"/>
                    </a:solidFill>
                  </a:tcPr>
                </a:tc>
              </a:tr>
              <a:tr h="754380">
                <a:tc>
                  <a:txBody>
                    <a:bodyPr wrap="square"/>
                    <a:lstStyle/>
                    <a:p>
                      <a:r>
                        <a:rPr sz="1400" b="1">
                          <a:solidFill>
                            <a:srgbClr val="006B66"/>
                          </a:solidFill>
                        </a:rPr>
                        <a:t>Finance</a:t>
                      </a:r>
                    </a:p>
                  </a:txBody>
                  <a:tcPr anchor="ctr">
                    <a:solidFill>
                      <a:srgbClr val="FFFFFF"/>
                    </a:solidFill>
                  </a:tcPr>
                </a:tc>
                <a:tc>
                  <a:txBody>
                    <a:bodyPr wrap="square"/>
                    <a:lstStyle/>
                    <a:p>
                      <a:r>
                        <a:rPr sz="1400" b="0">
                          <a:solidFill>
                            <a:srgbClr val="112239"/>
                          </a:solidFill>
                        </a:rPr>
                        <a:t>Q3 scenario range based on Q2 actual gap closure</a:t>
                      </a:r>
                    </a:p>
                  </a:txBody>
                  <a:tcPr anchor="ctr">
                    <a:solidFill>
                      <a:srgbClr val="FFFFFF"/>
                    </a:solidFill>
                  </a:tcPr>
                </a:tc>
                <a:tc>
                  <a:txBody>
                    <a:bodyPr wrap="square"/>
                    <a:lstStyle/>
                    <a:p>
                      <a:r>
                        <a:rPr sz="1400" b="0">
                          <a:solidFill>
                            <a:srgbClr val="112239"/>
                          </a:solidFill>
                        </a:rPr>
                        <a:t>Replaces the plan growth rate with an evidence-based range.</a:t>
                      </a:r>
                    </a:p>
                  </a:txBody>
                  <a:tcPr anchor="ctr">
                    <a:solidFill>
                      <a:srgbClr val="FFFFFF"/>
                    </a:solidFill>
                  </a:tcPr>
                </a:tc>
                <a:tc>
                  <a:txBody>
                    <a:bodyPr wrap="square"/>
                    <a:lstStyle/>
                    <a:p>
                      <a:r>
                        <a:rPr sz="1400" b="0">
                          <a:solidFill>
                            <a:srgbClr val="112239"/>
                          </a:solidFill>
                        </a:rPr>
                        <a:t>Revenue growth slower than plan</a:t>
                      </a:r>
                    </a:p>
                  </a:txBody>
                  <a:tcPr anchor="ctr">
                    <a:solidFill>
                      <a:srgbClr val="FFFFFF"/>
                    </a:solidFill>
                  </a:tcPr>
                </a:tc>
              </a:tr>
            </a:tbl>
          </a:graphicData>
        </a:graphic>
      </p:graphicFrame>
      <p:sp>
        <p:nvSpPr>
          <p:cNvPr id="6" name="Decision request"/>
          <p:cNvSpPr txBox="1"/>
          <p:nvPr/>
        </p:nvSpPr>
        <p:spPr>
          <a:xfrm>
            <a:off x="548640" y="5212080"/>
            <a:ext cx="11091672" cy="868680"/>
          </a:xfrm>
          <a:prstGeom prst="rect">
            <a:avLst/>
          </a:prstGeom>
          <a:solidFill>
            <a:srgbClr val="F1F5F9"/>
          </a:solidFill>
        </p:spPr>
        <p:txBody>
          <a:bodyPr wrap="square" anchor="t" lIns="73152" rIns="73152">
            <a:spAutoFit/>
          </a:bodyPr>
          <a:lstStyle/>
          <a:p>
            <a:pPr>
              <a:spcAft>
                <a:spcPts val="400"/>
              </a:spcAft>
            </a:pPr>
            <a:r>
              <a:rPr sz="1600" b="1">
                <a:solidFill>
                  <a:srgbClr val="006B66"/>
                </a:solidFill>
              </a:rPr>
              <a:t>Decision requested: </a:t>
            </a:r>
            <a:r>
              <a:rPr sz="1600" b="1">
                <a:solidFill>
                  <a:srgbClr val="112239"/>
                </a:solidFill>
              </a:rPr>
              <a:t>agree that Q3 plan recovery is not assumed until these three outputs are reviewed.</a:t>
            </a:r>
          </a:p>
          <a:p>
            <a:pPr>
              <a:spcAft>
                <a:spcPts val="400"/>
              </a:spcAft>
            </a:pPr>
            <a:r>
              <a:rPr sz="1300" b="0">
                <a:solidFill>
                  <a:srgbClr val="475467"/>
                </a:solidFill>
              </a:rPr>
              <a:t>These are proposals for a fictional company. They are not commitments or verified root causes.</a:t>
            </a:r>
          </a:p>
        </p:txBody>
      </p:sp>
      <p:sp>
        <p:nvSpPr>
          <p:cNvPr id="7" name="Top bar">
            <a:extLst>
              <a:ext uri="{C183D7F6-B498-43B3-948B-1728B52AA6E4}">
                <adec:decorative xmlns:adec="http://schemas.microsoft.com/office/drawing/2017/decorative" val="1"/>
              </a:ext>
            </a:extLst>
          </p:cNvPr>
          <p:cNvSpPr/>
          <p:nvPr/>
        </p:nvSpPr>
        <p:spPr>
          <a:xfrm>
            <a:off x="0" y="0"/>
            <a:ext cx="12191695" cy="91440"/>
          </a:xfrm>
          <a:prstGeom prst="rect">
            <a:avLst/>
          </a:prstGeom>
          <a:solidFill>
            <a:srgbClr val="006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er rule">
            <a:extLst>
              <a:ext uri="{C183D7F6-B498-43B3-948B-1728B52AA6E4}">
                <adec:decorative xmlns:adec="http://schemas.microsoft.com/office/drawing/2017/decorative" val="1"/>
              </a:ext>
            </a:extLst>
          </p:cNvPr>
          <p:cNvSpPr/>
          <p:nvPr/>
        </p:nvSpPr>
        <p:spPr>
          <a:xfrm>
            <a:off x="548640" y="6355080"/>
            <a:ext cx="11091672" cy="9144"/>
          </a:xfrm>
          <a:prstGeom prst="rect">
            <a:avLst/>
          </a:prstGeom>
          <a:solidFill>
            <a:srgbClr val="D0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isclosure"/>
          <p:cNvSpPr txBox="1"/>
          <p:nvPr/>
        </p:nvSpPr>
        <p:spPr>
          <a:xfrm>
            <a:off x="548640" y="6382512"/>
            <a:ext cx="9601200" cy="310896"/>
          </a:xfrm>
          <a:prstGeom prst="rect">
            <a:avLst/>
          </a:prstGeom>
          <a:noFill/>
        </p:spPr>
        <p:txBody>
          <a:bodyPr wrap="square" anchor="t" lIns="73152" rIns="73152">
            <a:spAutoFit/>
          </a:bodyPr>
          <a:lstStyle/>
          <a:p>
            <a:pPr>
              <a:spcAft>
                <a:spcPts val="400"/>
              </a:spcAft>
            </a:pPr>
            <a:r>
              <a:rPr sz="1200" b="0">
                <a:solidFill>
                  <a:srgbClr val="475467"/>
                </a:solidFill>
              </a:rPr>
              <a:t>Synthetic data. Northstar Cloud is a fictional company. Illustrative portfolio case.</a:t>
            </a:r>
          </a:p>
        </p:txBody>
      </p:sp>
      <p:sp>
        <p:nvSpPr>
          <p:cNvPr id="10" name="Page number"/>
          <p:cNvSpPr txBox="1"/>
          <p:nvPr/>
        </p:nvSpPr>
        <p:spPr>
          <a:xfrm>
            <a:off x="11018520" y="6382512"/>
            <a:ext cx="640080" cy="310896"/>
          </a:xfrm>
          <a:prstGeom prst="rect">
            <a:avLst/>
          </a:prstGeom>
          <a:noFill/>
        </p:spPr>
        <p:txBody>
          <a:bodyPr wrap="square" anchor="t" lIns="73152" rIns="73152">
            <a:spAutoFit/>
          </a:bodyPr>
          <a:lstStyle/>
          <a:p>
            <a:pPr>
              <a:spcAft>
                <a:spcPts val="400"/>
              </a:spcAft>
            </a:pPr>
            <a:r>
              <a:rPr sz="1200" b="0">
                <a:solidFill>
                  <a:srgbClr val="475467"/>
                </a:solidFil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48640" y="502920"/>
            <a:ext cx="11064240" cy="1024128"/>
          </a:xfrm>
        </p:spPr>
        <p:txBody>
          <a:bodyPr wrap="square" anchor="t" lIns="73152"/>
          <a:lstStyle/>
          <a:p>
            <a:pPr algn="l"/>
            <a:r>
              <a:rPr sz="2600" b="1">
                <a:solidFill>
                  <a:srgbClr val="112239"/>
                </a:solidFill>
                <a:latin typeface="Calibri"/>
              </a:rPr>
              <a:t>Data notes: what these figures can and cannot support</a:t>
            </a:r>
          </a:p>
        </p:txBody>
      </p:sp>
      <p:sp>
        <p:nvSpPr>
          <p:cNvPr id="3" name="Header"/>
          <p:cNvSpPr txBox="1"/>
          <p:nvPr/>
        </p:nvSpPr>
        <p:spPr>
          <a:xfrm>
            <a:off x="548640" y="201168"/>
            <a:ext cx="8229600" cy="292608"/>
          </a:xfrm>
          <a:prstGeom prst="rect">
            <a:avLst/>
          </a:prstGeom>
          <a:noFill/>
        </p:spPr>
        <p:txBody>
          <a:bodyPr wrap="square" anchor="t" lIns="73152" rIns="73152">
            <a:spAutoFit/>
          </a:bodyPr>
          <a:lstStyle/>
          <a:p>
            <a:pPr>
              <a:spcAft>
                <a:spcPts val="400"/>
              </a:spcAft>
            </a:pPr>
            <a:r>
              <a:rPr sz="1100" b="1">
                <a:solidFill>
                  <a:srgbClr val="006B66"/>
                </a:solidFill>
              </a:rPr>
              <a:t>NORTHSTAR CLOUD  /  Q2 2026 BUSINESS REVIEW</a:t>
            </a:r>
          </a:p>
        </p:txBody>
      </p:sp>
      <p:sp>
        <p:nvSpPr>
          <p:cNvPr id="4" name="Subtitle"/>
          <p:cNvSpPr txBox="1"/>
          <p:nvPr/>
        </p:nvSpPr>
        <p:spPr>
          <a:xfrm>
            <a:off x="548640" y="1536192"/>
            <a:ext cx="11064240" cy="365760"/>
          </a:xfrm>
          <a:prstGeom prst="rect">
            <a:avLst/>
          </a:prstGeom>
          <a:noFill/>
        </p:spPr>
        <p:txBody>
          <a:bodyPr wrap="square" anchor="t" lIns="73152" rIns="73152">
            <a:spAutoFit/>
          </a:bodyPr>
          <a:lstStyle/>
          <a:p>
            <a:pPr>
              <a:spcAft>
                <a:spcPts val="400"/>
              </a:spcAft>
            </a:pPr>
            <a:r>
              <a:rPr sz="1400" b="0">
                <a:solidFill>
                  <a:srgbClr val="475467"/>
                </a:solidFill>
              </a:rPr>
              <a:t>Appendix</a:t>
            </a:r>
          </a:p>
        </p:txBody>
      </p:sp>
      <p:sp>
        <p:nvSpPr>
          <p:cNvPr id="5" name="Source panel">
            <a:extLst>
              <a:ext uri="{C183D7F6-B498-43B3-948B-1728B52AA6E4}">
                <adec:decorative xmlns:adec="http://schemas.microsoft.com/office/drawing/2017/decorative" val="1"/>
              </a:ext>
            </a:extLst>
          </p:cNvPr>
          <p:cNvSpPr/>
          <p:nvPr/>
        </p:nvSpPr>
        <p:spPr>
          <a:xfrm>
            <a:off x="548640" y="2011680"/>
            <a:ext cx="5394960" cy="301752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imitations panel">
            <a:extLst>
              <a:ext uri="{C183D7F6-B498-43B3-948B-1728B52AA6E4}">
                <adec:decorative xmlns:adec="http://schemas.microsoft.com/office/drawing/2017/decorative" val="1"/>
              </a:ext>
            </a:extLst>
          </p:cNvPr>
          <p:cNvSpPr/>
          <p:nvPr/>
        </p:nvSpPr>
        <p:spPr>
          <a:xfrm>
            <a:off x="6245352" y="2011680"/>
            <a:ext cx="5394960" cy="301752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ource and conventions"/>
          <p:cNvSpPr txBox="1"/>
          <p:nvPr/>
        </p:nvSpPr>
        <p:spPr>
          <a:xfrm>
            <a:off x="685800" y="2103120"/>
            <a:ext cx="5120640" cy="2834640"/>
          </a:xfrm>
          <a:prstGeom prst="rect">
            <a:avLst/>
          </a:prstGeom>
          <a:noFill/>
        </p:spPr>
        <p:txBody>
          <a:bodyPr wrap="square" anchor="t" lIns="73152" rIns="73152">
            <a:spAutoFit/>
          </a:bodyPr>
          <a:lstStyle/>
          <a:p>
            <a:pPr>
              <a:spcAft>
                <a:spcPts val="400"/>
              </a:spcAft>
            </a:pPr>
            <a:r>
              <a:rPr sz="1200" b="1">
                <a:solidFill>
                  <a:srgbClr val="475467"/>
                </a:solidFill>
              </a:rPr>
              <a:t>SOURCE</a:t>
            </a:r>
          </a:p>
          <a:p>
            <a:pPr>
              <a:spcAft>
                <a:spcPts val="400"/>
              </a:spcAft>
            </a:pPr>
            <a:r>
              <a:rPr sz="1300" b="0">
                <a:solidFill>
                  <a:srgbClr val="112239"/>
                </a:solidFill>
              </a:rPr>
              <a:t>One synthetic CSV: seven metrics, Q1 2026 actual, Q2 2026 actual, Q2 2026 plan. Every slide figure traces to a source cell or a calculation in the claims register.</a:t>
            </a:r>
          </a:p>
          <a:p>
            <a:pPr>
              <a:spcAft>
                <a:spcPts val="400"/>
              </a:spcAft>
            </a:pPr>
            <a:r>
              <a:rPr sz="1200" b="1">
                <a:solidFill>
                  <a:srgbClr val="475467"/>
                </a:solidFill>
              </a:rPr>
              <a:t>CONVENTIONS</a:t>
            </a:r>
          </a:p>
          <a:p>
            <a:pPr>
              <a:spcAft>
                <a:spcPts val="400"/>
              </a:spcAft>
            </a:pPr>
            <a:r>
              <a:rPr sz="1300" b="0">
                <a:solidFill>
                  <a:srgbClr val="112239"/>
                </a:solidFill>
              </a:rPr>
              <a:t>Growth and attainment for dollar metrics are percentages. Changes in percentage metrics are percentage points (pp). Coverage changes are multiples (x). Plan means the Q2 2026 plan column.</a:t>
            </a:r>
          </a:p>
        </p:txBody>
      </p:sp>
      <p:sp>
        <p:nvSpPr>
          <p:cNvPr id="8" name="Limitations"/>
          <p:cNvSpPr txBox="1"/>
          <p:nvPr/>
        </p:nvSpPr>
        <p:spPr>
          <a:xfrm>
            <a:off x="6382512" y="2103120"/>
            <a:ext cx="5120640" cy="2834640"/>
          </a:xfrm>
          <a:prstGeom prst="rect">
            <a:avLst/>
          </a:prstGeom>
          <a:noFill/>
        </p:spPr>
        <p:txBody>
          <a:bodyPr wrap="square" anchor="t" lIns="73152" rIns="73152">
            <a:spAutoFit/>
          </a:bodyPr>
          <a:lstStyle/>
          <a:p>
            <a:pPr>
              <a:spcAft>
                <a:spcPts val="400"/>
              </a:spcAft>
            </a:pPr>
            <a:r>
              <a:rPr sz="1200" b="1">
                <a:solidFill>
                  <a:srgbClr val="475467"/>
                </a:solidFill>
              </a:rPr>
              <a:t>LIMITATIONS</a:t>
            </a:r>
          </a:p>
          <a:p>
            <a:pPr>
              <a:spcAft>
                <a:spcPts val="400"/>
              </a:spcAft>
            </a:pPr>
            <a:r>
              <a:rPr sz="1300" b="0">
                <a:solidFill>
                  <a:srgbClr val="112239"/>
                </a:solidFill>
              </a:rPr>
              <a:t>No segment, product, or customer data, so no driver or segment conclusion.</a:t>
            </a:r>
          </a:p>
          <a:p>
            <a:pPr>
              <a:spcAft>
                <a:spcPts val="400"/>
              </a:spcAft>
            </a:pPr>
            <a:r>
              <a:rPr sz="1300" b="0">
                <a:solidFill>
                  <a:srgbClr val="112239"/>
                </a:solidFill>
              </a:rPr>
              <a:t>Two actual quarters and one plan period, so no trend or forecast-accuracy view.</a:t>
            </a:r>
          </a:p>
          <a:p>
            <a:pPr>
              <a:spcAft>
                <a:spcPts val="400"/>
              </a:spcAft>
            </a:pPr>
            <a:r>
              <a:rPr sz="1300" b="0">
                <a:solidFill>
                  <a:srgbClr val="112239"/>
                </a:solidFill>
              </a:rPr>
              <a:t>Retention cohort, pipeline basis, and gross-margin basis are not defined.</a:t>
            </a:r>
          </a:p>
          <a:p>
            <a:pPr>
              <a:spcAft>
                <a:spcPts val="400"/>
              </a:spcAft>
            </a:pPr>
            <a:r>
              <a:rPr sz="1300" b="0">
                <a:solidFill>
                  <a:srgbClr val="112239"/>
                </a:solidFill>
              </a:rPr>
              <a:t>Implied gross profit is a derived figure that needs an assumption.</a:t>
            </a:r>
          </a:p>
        </p:txBody>
      </p:sp>
      <p:sp>
        <p:nvSpPr>
          <p:cNvPr id="9" name="Evidence trail"/>
          <p:cNvSpPr txBox="1"/>
          <p:nvPr/>
        </p:nvSpPr>
        <p:spPr>
          <a:xfrm>
            <a:off x="548640" y="5257800"/>
            <a:ext cx="11091672" cy="822960"/>
          </a:xfrm>
          <a:prstGeom prst="rect">
            <a:avLst/>
          </a:prstGeom>
          <a:noFill/>
        </p:spPr>
        <p:txBody>
          <a:bodyPr wrap="square" anchor="t" lIns="73152" rIns="73152">
            <a:spAutoFit/>
          </a:bodyPr>
          <a:lstStyle/>
          <a:p>
            <a:pPr>
              <a:spcAft>
                <a:spcPts val="400"/>
              </a:spcAft>
            </a:pPr>
            <a:r>
              <a:rPr sz="1300" b="0">
                <a:solidFill>
                  <a:srgbClr val="475467"/>
                </a:solidFill>
              </a:rPr>
              <a:t>Evidence trail: source CSV, then data validation, then business assessment, then the claims register, then this deck. All files are in the portfolio repository.</a:t>
            </a:r>
          </a:p>
        </p:txBody>
      </p:sp>
      <p:sp>
        <p:nvSpPr>
          <p:cNvPr id="10" name="Top bar">
            <a:extLst>
              <a:ext uri="{C183D7F6-B498-43B3-948B-1728B52AA6E4}">
                <adec:decorative xmlns:adec="http://schemas.microsoft.com/office/drawing/2017/decorative" val="1"/>
              </a:ext>
            </a:extLst>
          </p:cNvPr>
          <p:cNvSpPr/>
          <p:nvPr/>
        </p:nvSpPr>
        <p:spPr>
          <a:xfrm>
            <a:off x="0" y="0"/>
            <a:ext cx="12191695" cy="91440"/>
          </a:xfrm>
          <a:prstGeom prst="rect">
            <a:avLst/>
          </a:prstGeom>
          <a:solidFill>
            <a:srgbClr val="006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ooter rule">
            <a:extLst>
              <a:ext uri="{C183D7F6-B498-43B3-948B-1728B52AA6E4}">
                <adec:decorative xmlns:adec="http://schemas.microsoft.com/office/drawing/2017/decorative" val="1"/>
              </a:ext>
            </a:extLst>
          </p:cNvPr>
          <p:cNvSpPr/>
          <p:nvPr/>
        </p:nvSpPr>
        <p:spPr>
          <a:xfrm>
            <a:off x="548640" y="6355080"/>
            <a:ext cx="11091672" cy="9144"/>
          </a:xfrm>
          <a:prstGeom prst="rect">
            <a:avLst/>
          </a:prstGeom>
          <a:solidFill>
            <a:srgbClr val="D0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isclosure"/>
          <p:cNvSpPr txBox="1"/>
          <p:nvPr/>
        </p:nvSpPr>
        <p:spPr>
          <a:xfrm>
            <a:off x="548640" y="6382512"/>
            <a:ext cx="9601200" cy="310896"/>
          </a:xfrm>
          <a:prstGeom prst="rect">
            <a:avLst/>
          </a:prstGeom>
          <a:noFill/>
        </p:spPr>
        <p:txBody>
          <a:bodyPr wrap="square" anchor="t" lIns="73152" rIns="73152">
            <a:spAutoFit/>
          </a:bodyPr>
          <a:lstStyle/>
          <a:p>
            <a:pPr>
              <a:spcAft>
                <a:spcPts val="400"/>
              </a:spcAft>
            </a:pPr>
            <a:r>
              <a:rPr sz="1200" b="0">
                <a:solidFill>
                  <a:srgbClr val="475467"/>
                </a:solidFill>
              </a:rPr>
              <a:t>Synthetic data. Northstar Cloud is a fictional company. Illustrative portfolio case.</a:t>
            </a:r>
          </a:p>
        </p:txBody>
      </p:sp>
      <p:sp>
        <p:nvSpPr>
          <p:cNvPr id="13" name="Page number"/>
          <p:cNvSpPr txBox="1"/>
          <p:nvPr/>
        </p:nvSpPr>
        <p:spPr>
          <a:xfrm>
            <a:off x="11018520" y="6382512"/>
            <a:ext cx="640080" cy="310896"/>
          </a:xfrm>
          <a:prstGeom prst="rect">
            <a:avLst/>
          </a:prstGeom>
          <a:noFill/>
        </p:spPr>
        <p:txBody>
          <a:bodyPr wrap="square" anchor="t" lIns="73152" rIns="73152">
            <a:spAutoFit/>
          </a:bodyPr>
          <a:lstStyle/>
          <a:p>
            <a:pPr>
              <a:spcAft>
                <a:spcPts val="400"/>
              </a:spcAft>
            </a:pPr>
            <a:r>
              <a:rPr sz="1200" b="0">
                <a:solidFill>
                  <a:srgbClr val="475467"/>
                </a:solidFill>
              </a:rPr>
              <a:t>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Northstar Cloud Q2 2026 Business Review (synthetic portfolio case)</dc:title>
  <dc:subject/>
  <dc:creator>Executive presentation portfolio (synthetic data)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en-US</dc:language>
</cp:coreProperties>
</file>